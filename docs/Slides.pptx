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2276ce2a-3e58-a331-dc81-8b461034aee4}">
          <p14:sldIdLst>
            <p14:sldId id="256"/>
            <p14:sldId id="257"/>
          </p14:sldIdLst>
        </p14:section>
        <p14:section name="Dữ liệu &amp; Pipeline" id="{82133776-c4c8-dd90-cd9c-6d537e3911de}">
          <p14:sldIdLst>
            <p14:sldId id="258"/>
            <p14:sldId id="259"/>
            <p14:sldId id="260"/>
          </p14:sldIdLst>
        </p14:section>
        <p14:section name="Mô hình &amp; Kết quả" id="{d33178fd-9598-acdc-3e03-d2fbbb766670}">
          <p14:sldIdLst>
            <p14:sldId id="261"/>
            <p14:sldId id="262"/>
            <p14:sldId id="263"/>
            <p14:sldId id="264"/>
            <p14:sldId id="265"/>
          </p14:sldIdLst>
        </p14:section>
        <p14:section name="Phân tích lỗi &amp; Champion" id="{671c0073-e55d-ca36-40a5-3c52624cc9dc}">
          <p14:sldIdLst>
            <p14:sldId id="266"/>
            <p14:sldId id="267"/>
            <p14:sldId id="268"/>
          </p14:sldIdLst>
        </p14:section>
        <p14:section name="Kết luận" id="{f3e6e7a6-94e8-5abf-c5ad-45c0f551bb6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26"/>
                </a:solidFill>
                <a:latin typeface="+mn-lt"/>
              </a:defRPr>
            </a:pPr>
            <a:r>
              <a:rPr sz="1400" b="0" i="0" u="none" strike="noStrike">
                <a:solidFill>
                  <a:srgbClr val="1B2326"/>
                </a:solidFill>
                <a:latin typeface="+mn-lt"/>
              </a:rPr>
              <a:t>Phân bố nhãn deposit</a:t>
            </a:r>
          </a:p>
        </c:rich>
      </c:tx>
      <c:layout/>
      <c:overlay val="0"/>
    </c:title>
    <c:autoTitleDeleted val="0"/>
    <c:plotArea>
      <c:layout/>
      <c:doughnutChart>
        <c:varyColors val="1"/>
        <c:ser>
          <c:idx val="0"/>
          <c:order val="0"/>
          <c:tx>
            <c:strRef>
              <c:f>Sheet1!$B$1</c:f>
              <c:strCache>
                <c:ptCount val="1"/>
                <c:pt idx="0">
                  <c:v>deposit</c:v>
                </c:pt>
              </c:strCache>
            </c:strRef>
          </c:tx>
          <c:spPr>
            <a:solidFill>
              <a:schemeClr val="accent1"/>
            </a:solidFill>
            <a:ln w="9525" cap="flat">
              <a:solidFill>
                <a:srgbClr val="F9F9F9"/>
              </a:solidFill>
              <a:prstDash val="solid"/>
              <a:round/>
            </a:ln>
            <a:effectLst/>
          </c:spPr>
          <c:dPt>
            <c:idx val="0"/>
            <c:bubble3D val="0"/>
            <c:spPr>
              <a:solidFill>
                <a:srgbClr val="5E7F9A"/>
              </a:solidFill>
              <a:effectLst/>
            </c:spPr>
          </c:dPt>
          <c:dPt>
            <c:idx val="1"/>
            <c:bubble3D val="0"/>
            <c:spPr>
              <a:solidFill>
                <a:srgbClr val="E0A526"/>
              </a:solidFill>
              <a:effectLst/>
            </c:spPr>
          </c:dPt>
          <c:dLbls>
            <c:dLbl>
              <c:idx val="0"/>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no</c:v>
                </c:pt>
                <c:pt idx="1">
                  <c:v>yes</c:v>
                </c:pt>
              </c:strCache>
            </c:strRef>
          </c:cat>
          <c:val>
            <c:numRef>
              <c:f>Sheet1!$B$2:$B$3</c:f>
              <c:numCache>
                <c:ptCount val="2"/>
                <c:pt idx="0">
                  <c:v>5873</c:v>
                </c:pt>
                <c:pt idx="1">
                  <c:v>5289</c:v>
                </c:pt>
              </c:numCache>
            </c:numRef>
          </c:val>
        </c:ser>
        <c:firstSliceAng val="0"/>
        <c:holeSize val="62"/>
      </c:doughnutChart>
      <c:spPr>
        <a:noFill/>
        <a:ln>
          <a:noFill/>
        </a:ln>
        <a:effectLst/>
      </c:spPr>
    </c:plotArea>
    <c:legend>
      <c:legendPos val="b"/>
      <c:overlay val="0"/>
      <c:txPr>
        <a:bodyPr/>
        <a:lstStyle/>
        <a:p>
          <a:pPr>
            <a:defRPr sz="1300">
              <a:solidFill>
                <a:srgbClr val="3A46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26"/>
                </a:solidFill>
                <a:latin typeface="+mn-lt"/>
              </a:defRPr>
            </a:pPr>
            <a:r>
              <a:rPr sz="1300" b="0" i="0" u="none" strike="noStrike">
                <a:solidFill>
                  <a:srgbClr val="1B2326"/>
                </a:solidFill>
                <a:latin typeface="+mn-lt"/>
              </a:rPr>
              <a:t>Số chiều qua từng bước của pipeline</a:t>
            </a:r>
          </a:p>
        </c:rich>
      </c:tx>
      <c:layout/>
      <c:overlay val="0"/>
    </c:title>
    <c:autoTitleDeleted val="0"/>
    <c:plotArea>
      <c:layout/>
      <c:barChart>
        <c:barDir val="col"/>
        <c:grouping val="clustered"/>
        <c:varyColors val="0"/>
        <c:ser>
          <c:idx val="0"/>
          <c:order val="0"/>
          <c:tx>
            <c:strRef>
              <c:f>Sheet1!$B$1</c:f>
              <c:strCache>
                <c:ptCount val="1"/>
                <c:pt idx="0">
                  <c:v>Số cột</c:v>
                </c:pt>
              </c:strCache>
            </c:strRef>
          </c:tx>
          <c:spPr>
            <a:solidFill>
              <a:srgbClr val="9CC3BD"/>
            </a:solidFill>
            <a:effectLst/>
          </c:spPr>
          <c:invertIfNegative val="0"/>
          <c:dLbls>
            <c:numFmt formatCode="#,##0" sourceLinked="0"/>
            <c:txPr>
              <a:bodyPr/>
              <a:lstStyle/>
              <a:p>
                <a:pPr>
                  <a:defRPr b="0" i="0" strike="noStrike" sz="1200" u="none">
                    <a:solidFill>
                      <a:srgbClr val="1B2326"/>
                    </a:solidFill>
                    <a:latin typeface="+mn-lt"/>
                  </a:defRPr>
                </a:pPr>
              </a:p>
            </c:txPr>
            <c:showLegendKey val="0"/>
            <c:showVal val="1"/>
            <c:showCatName val="0"/>
            <c:showSerName val="0"/>
            <c:showPercent val="0"/>
            <c:showBubbleSize val="0"/>
            <c:showLeaderLines val="0"/>
          </c:dLbls>
          <c:dPt>
            <c:idx val="0"/>
            <c:invertIfNegative val="0"/>
            <c:bubble3D val="0"/>
            <c:spPr>
              <a:solidFill>
                <a:srgbClr val="9CC3BD"/>
              </a:solidFill>
              <a:effectLst/>
            </c:spPr>
          </c:dPt>
          <c:dPt>
            <c:idx val="1"/>
            <c:invertIfNegative val="0"/>
            <c:bubble3D val="0"/>
            <c:spPr>
              <a:solidFill>
                <a:srgbClr val="9CC3BD"/>
              </a:solidFill>
              <a:effectLst/>
            </c:spPr>
          </c:dPt>
          <c:dPt>
            <c:idx val="2"/>
            <c:invertIfNegative val="0"/>
            <c:bubble3D val="0"/>
            <c:spPr>
              <a:solidFill>
                <a:srgbClr val="0F6E68"/>
              </a:solidFill>
              <a:effectLst/>
            </c:spPr>
          </c:dPt>
          <c:dPt>
            <c:idx val="3"/>
            <c:invertIfNegative val="0"/>
            <c:bubble3D val="0"/>
            <c:spPr>
              <a:solidFill>
                <a:srgbClr val="5E7F9A"/>
              </a:solidFill>
              <a:effectLst/>
            </c:spPr>
          </c:dPt>
          <c:dPt>
            <c:idx val="4"/>
            <c:invertIfNegative val="0"/>
            <c:bubble3D val="0"/>
            <c:spPr>
              <a:solidFill>
                <a:srgbClr val="E0A526"/>
              </a:solidFill>
              <a:effectLst/>
            </c:spPr>
          </c:dPt>
          <c:cat>
            <c:multiLvlStrRef>
              <c:f>Sheet1!$A$2:$A$6</c:f>
              <c:multiLvlStrCache>
                <c:ptCount val="5"/>
                <c:lvl>
                  <c:pt idx="0">
                    <c:v>Thô</c:v>
                  </c:pt>
                  <c:pt idx="1">
                    <c:v>Bỏ duration</c:v>
                  </c:pt>
                  <c:pt idx="2">
                    <c:v>+24 đặc trưng</c:v>
                  </c:pt>
                  <c:pt idx="3">
                    <c:v>Sau mã hóa</c:v>
                  </c:pt>
                  <c:pt idx="4">
                    <c:v>MI Top-K</c:v>
                  </c:pt>
                </c:lvl>
              </c:multiLvlStrCache>
            </c:multiLvlStrRef>
          </c:cat>
          <c:val>
            <c:numRef>
              <c:f>Sheet1!$B$2:$B$6</c:f>
              <c:numCache>
                <c:formatCode>General</c:formatCode>
                <c:ptCount val="5"/>
                <c:pt idx="0">
                  <c:v>16</c:v>
                </c:pt>
                <c:pt idx="1">
                  <c:v>15</c:v>
                </c:pt>
                <c:pt idx="2">
                  <c:v>39</c:v>
                </c:pt>
                <c:pt idx="3">
                  <c:v>74</c:v>
                </c:pt>
                <c:pt idx="4">
                  <c:v>32</c:v>
                </c:pt>
              </c:numCache>
            </c:numRef>
          </c:val>
        </c:ser>
        <c:dLbls>
          <c:numFmt formatCode="#,##0" sourceLinked="0"/>
          <c:txPr>
            <a:bodyPr/>
            <a:lstStyle/>
            <a:p>
              <a:pPr>
                <a:defRPr b="0" i="0" strike="noStrike" sz="1200" u="none">
                  <a:solidFill>
                    <a:srgbClr val="1B23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856"/>
                </a:solidFill>
                <a:latin typeface="+mn-lt"/>
              </a:defRPr>
            </a:pPr>
            <a:endParaRPr lang="en-US"/>
          </a:p>
        </c:txPr>
        <c:crossAx val="2094734552"/>
        <c:crosses val="autoZero"/>
        <c:auto val="1"/>
        <c:lblAlgn val="ctr"/>
        <c:noMultiLvlLbl val="1"/>
      </c:catAx>
      <c:valAx>
        <c:axId val="2094734552"/>
        <c:scaling>
          <c:orientation val="minMax"/>
          <c:max val="85"/>
        </c:scaling>
        <c:delete val="1"/>
        <c:axPos val="l"/>
        <c:majorGridlines>
          <c:spPr>
            <a:ln w="9525" cap="flat">
              <a:solidFill>
                <a:srgbClr val="DDE5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85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26"/>
                </a:solidFill>
                <a:latin typeface="+mn-lt"/>
              </a:defRPr>
            </a:pPr>
            <a:r>
              <a:rPr sz="1300" b="0" i="0" u="none" strike="noStrike">
                <a:solidFill>
                  <a:srgbClr val="1B2326"/>
                </a:solidFill>
                <a:latin typeface="+mn-lt"/>
              </a:rPr>
              <a:t>Macro-F1: CV so với Test</a:t>
            </a:r>
          </a:p>
        </c:rich>
      </c:tx>
      <c:layout/>
      <c:overlay val="0"/>
    </c:title>
    <c:autoTitleDeleted val="0"/>
    <c:plotArea>
      <c:layout/>
      <c:barChart>
        <c:barDir val="col"/>
        <c:grouping val="clustered"/>
        <c:varyColors val="0"/>
        <c:ser>
          <c:idx val="0"/>
          <c:order val="0"/>
          <c:tx>
            <c:strRef>
              <c:f>Sheet1!$B$1</c:f>
              <c:strCache>
                <c:ptCount val="1"/>
                <c:pt idx="0">
                  <c:v>CV (Tuần 3)</c:v>
                </c:pt>
              </c:strCache>
            </c:strRef>
          </c:tx>
          <c:spPr>
            <a:solidFill>
              <a:srgbClr val="9CC3BD"/>
            </a:solidFill>
            <a:effectLst/>
          </c:spPr>
          <c:invertIfNegative val="0"/>
          <c:dLbls>
            <c:numFmt formatCode="0.000" sourceLinked="0"/>
            <c:txPr>
              <a:bodyPr/>
              <a:lstStyle/>
              <a:p>
                <a:pPr>
                  <a:defRPr b="0" i="0" strike="noStrike" sz="1100" u="none">
                    <a:solidFill>
                      <a:srgbClr val="1B2326"/>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c:v>
                  </c:pt>
                  <c:pt idx="1">
                    <c:v>Random Forest</c:v>
                  </c:pt>
                  <c:pt idx="2">
                    <c:v>SVC RBF</c:v>
                  </c:pt>
                </c:lvl>
              </c:multiLvlStrCache>
            </c:multiLvlStrRef>
          </c:cat>
          <c:val>
            <c:numRef>
              <c:f>Sheet1!$B$2:$B$4</c:f>
              <c:numCache>
                <c:formatCode>General</c:formatCode>
                <c:ptCount val="3"/>
                <c:pt idx="0">
                  <c:v>0.696</c:v>
                </c:pt>
                <c:pt idx="1">
                  <c:v>0.7233</c:v>
                </c:pt>
                <c:pt idx="2">
                  <c:v>0.7178</c:v>
                </c:pt>
              </c:numCache>
            </c:numRef>
          </c:val>
        </c:ser>
        <c:ser>
          <c:idx val="1"/>
          <c:order val="1"/>
          <c:tx>
            <c:strRef>
              <c:f>Sheet1!$C$1</c:f>
              <c:strCache>
                <c:ptCount val="1"/>
                <c:pt idx="0">
                  <c:v>Test (Tuần 4)</c:v>
                </c:pt>
              </c:strCache>
            </c:strRef>
          </c:tx>
          <c:spPr>
            <a:solidFill>
              <a:srgbClr val="0F6E68"/>
            </a:solidFill>
            <a:effectLst/>
          </c:spPr>
          <c:invertIfNegative val="0"/>
          <c:dLbls>
            <c:numFmt formatCode="0.000" sourceLinked="0"/>
            <c:txPr>
              <a:bodyPr/>
              <a:lstStyle/>
              <a:p>
                <a:pPr>
                  <a:defRPr b="0" i="0" strike="noStrike" sz="1100" u="none">
                    <a:solidFill>
                      <a:srgbClr val="1B2326"/>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c:v>
                  </c:pt>
                  <c:pt idx="1">
                    <c:v>Random Forest</c:v>
                  </c:pt>
                  <c:pt idx="2">
                    <c:v>SVC RBF</c:v>
                  </c:pt>
                </c:lvl>
              </c:multiLvlStrCache>
            </c:multiLvlStrRef>
          </c:cat>
          <c:val>
            <c:numRef>
              <c:f>Sheet1!$C$2:$C$4</c:f>
              <c:numCache>
                <c:formatCode>General</c:formatCode>
                <c:ptCount val="3"/>
                <c:pt idx="0">
                  <c:v>0.7098</c:v>
                </c:pt>
                <c:pt idx="1">
                  <c:v>0.7263</c:v>
                </c:pt>
                <c:pt idx="2">
                  <c:v>0.7185</c:v>
                </c:pt>
              </c:numCache>
            </c:numRef>
          </c:val>
        </c:ser>
        <c:dLbls>
          <c:numFmt formatCode="0.000" sourceLinked="0"/>
          <c:txPr>
            <a:bodyPr/>
            <a:lstStyle/>
            <a:p>
              <a:pPr>
                <a:defRPr b="0" i="0" strike="noStrike" sz="1100" u="none">
                  <a:solidFill>
                    <a:srgbClr val="1B23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856"/>
                </a:solidFill>
                <a:latin typeface="+mn-lt"/>
              </a:defRPr>
            </a:pPr>
            <a:endParaRPr lang="en-US"/>
          </a:p>
        </c:txPr>
        <c:crossAx val="2094734552"/>
        <c:crosses val="autoZero"/>
        <c:auto val="1"/>
        <c:lblAlgn val="ctr"/>
        <c:noMultiLvlLbl val="1"/>
      </c:catAx>
      <c:valAx>
        <c:axId val="2094734552"/>
        <c:scaling>
          <c:orientation val="minMax"/>
          <c:max val="0.75"/>
          <c:min val="0.6"/>
        </c:scaling>
        <c:delete val="0"/>
        <c:axPos val="l"/>
        <c:majorGridlines>
          <c:spPr>
            <a:ln w="9525" cap="flat">
              <a:solidFill>
                <a:srgbClr val="DDE5E4"/>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856"/>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3A46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26"/>
                </a:solidFill>
                <a:latin typeface="+mn-lt"/>
              </a:defRPr>
            </a:pPr>
            <a:r>
              <a:rPr sz="1300" b="0" i="0" u="none" strike="noStrike">
                <a:solidFill>
                  <a:srgbClr val="1B2326"/>
                </a:solidFill>
                <a:latin typeface="+mn-lt"/>
              </a:rPr>
              <a:t>Hậu kiểm: trung vị duration (giây) theo nhóm</a:t>
            </a:r>
          </a:p>
        </c:rich>
      </c:tx>
      <c:layout/>
      <c:overlay val="0"/>
    </c:title>
    <c:autoTitleDeleted val="0"/>
    <c:plotArea>
      <c:layout/>
      <c:barChart>
        <c:barDir val="col"/>
        <c:grouping val="clustered"/>
        <c:varyColors val="0"/>
        <c:ser>
          <c:idx val="0"/>
          <c:order val="0"/>
          <c:tx>
            <c:strRef>
              <c:f>Sheet1!$B$1</c:f>
              <c:strCache>
                <c:ptCount val="1"/>
                <c:pt idx="0">
                  <c:v>Trung vị duration (giây)</c:v>
                </c:pt>
              </c:strCache>
            </c:strRef>
          </c:tx>
          <c:spPr>
            <a:solidFill>
              <a:srgbClr val="0F6E68"/>
            </a:solidFill>
            <a:effectLst/>
          </c:spPr>
          <c:invertIfNegative val="0"/>
          <c:dLbls>
            <c:numFmt formatCode="#,##0" sourceLinked="0"/>
            <c:txPr>
              <a:bodyPr/>
              <a:lstStyle/>
              <a:p>
                <a:pPr>
                  <a:defRPr b="0" i="0" strike="noStrike" sz="1200" u="none">
                    <a:solidFill>
                      <a:srgbClr val="1B2326"/>
                    </a:solidFill>
                    <a:latin typeface="+mn-lt"/>
                  </a:defRPr>
                </a:pPr>
              </a:p>
            </c:txPr>
            <c:showLegendKey val="0"/>
            <c:showVal val="1"/>
            <c:showCatName val="0"/>
            <c:showSerName val="0"/>
            <c:showPercent val="0"/>
            <c:showBubbleSize val="0"/>
            <c:showLeaderLines val="0"/>
          </c:dLbls>
          <c:dPt>
            <c:idx val="0"/>
            <c:invertIfNegative val="0"/>
            <c:bubble3D val="0"/>
            <c:spPr>
              <a:solidFill>
                <a:srgbClr val="0F6E68"/>
              </a:solidFill>
              <a:effectLst/>
            </c:spPr>
          </c:dPt>
          <c:dPt>
            <c:idx val="1"/>
            <c:invertIfNegative val="0"/>
            <c:bubble3D val="0"/>
            <c:spPr>
              <a:solidFill>
                <a:srgbClr val="C2553D"/>
              </a:solidFill>
              <a:effectLst/>
            </c:spPr>
          </c:dPt>
          <c:dPt>
            <c:idx val="2"/>
            <c:invertIfNegative val="0"/>
            <c:bubble3D val="0"/>
            <c:spPr>
              <a:solidFill>
                <a:srgbClr val="5E7F9A"/>
              </a:solidFill>
              <a:effectLst/>
            </c:spPr>
          </c:dPt>
          <c:dPt>
            <c:idx val="3"/>
            <c:invertIfNegative val="0"/>
            <c:bubble3D val="0"/>
            <c:spPr>
              <a:solidFill>
                <a:srgbClr val="D9A441"/>
              </a:solidFill>
              <a:effectLst/>
            </c:spPr>
          </c:dPt>
          <c:cat>
            <c:multiLvlStrRef>
              <c:f>Sheet1!$A$2:$A$5</c:f>
              <c:multiLvlStrCache>
                <c:ptCount val="4"/>
                <c:lvl>
                  <c:pt idx="0">
                    <c:v>TP</c:v>
                  </c:pt>
                  <c:pt idx="1">
                    <c:v>FN</c:v>
                  </c:pt>
                  <c:pt idx="2">
                    <c:v>TN</c:v>
                  </c:pt>
                  <c:pt idx="3">
                    <c:v>FP</c:v>
                  </c:pt>
                </c:lvl>
              </c:multiLvlStrCache>
            </c:multiLvlStrRef>
          </c:cat>
          <c:val>
            <c:numRef>
              <c:f>Sheet1!$B$2:$B$5</c:f>
              <c:numCache>
                <c:formatCode>General</c:formatCode>
                <c:ptCount val="4"/>
                <c:pt idx="0">
                  <c:v>314</c:v>
                </c:pt>
                <c:pt idx="1">
                  <c:v>732</c:v>
                </c:pt>
                <c:pt idx="2">
                  <c:v>172</c:v>
                </c:pt>
                <c:pt idx="3">
                  <c:v>185</c:v>
                </c:pt>
              </c:numCache>
            </c:numRef>
          </c:val>
        </c:ser>
        <c:dLbls>
          <c:numFmt formatCode="#,##0" sourceLinked="0"/>
          <c:txPr>
            <a:bodyPr/>
            <a:lstStyle/>
            <a:p>
              <a:pPr>
                <a:defRPr b="0" i="0" strike="noStrike" sz="1200" u="none">
                  <a:solidFill>
                    <a:srgbClr val="1B232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856"/>
                </a:solidFill>
                <a:latin typeface="+mn-lt"/>
              </a:defRPr>
            </a:pPr>
            <a:endParaRPr lang="en-US"/>
          </a:p>
        </c:txPr>
        <c:crossAx val="2094734552"/>
        <c:crosses val="autoZero"/>
        <c:auto val="1"/>
        <c:lblAlgn val="ctr"/>
        <c:noMultiLvlLbl val="1"/>
      </c:catAx>
      <c:valAx>
        <c:axId val="2094734552"/>
        <c:scaling>
          <c:orientation val="minMax"/>
          <c:max val="850"/>
        </c:scaling>
        <c:delete val="1"/>
        <c:axPos val="l"/>
        <c:majorGridlines>
          <c:spPr>
            <a:ln w="9525" cap="flat">
              <a:solidFill>
                <a:srgbClr val="DDE5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85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26"/>
                </a:solidFill>
                <a:latin typeface="+mn-lt"/>
              </a:defRPr>
            </a:pPr>
            <a:r>
              <a:rPr sz="1300" b="0" i="0" u="none" strike="noStrike">
                <a:solidFill>
                  <a:srgbClr val="1B2326"/>
                </a:solidFill>
                <a:latin typeface="+mn-lt"/>
              </a:rPr>
              <a:t>Recall lớp 'yes' của Random Forest theo nhóm khách</a:t>
            </a:r>
          </a:p>
        </c:rich>
      </c:tx>
      <c:layout/>
      <c:overlay val="0"/>
    </c:title>
    <c:autoTitleDeleted val="0"/>
    <c:plotArea>
      <c:layout/>
      <c:barChart>
        <c:barDir val="bar"/>
        <c:grouping val="clustered"/>
        <c:varyColors val="0"/>
        <c:ser>
          <c:idx val="0"/>
          <c:order val="0"/>
          <c:tx>
            <c:strRef>
              <c:f>Sheet1!$B$1</c:f>
              <c:strCache>
                <c:ptCount val="1"/>
                <c:pt idx="0">
                  <c:v>Recall (Random Forest)</c:v>
                </c:pt>
              </c:strCache>
            </c:strRef>
          </c:tx>
          <c:spPr>
            <a:solidFill>
              <a:srgbClr val="9CC3BD"/>
            </a:solidFill>
            <a:effectLst/>
          </c:spPr>
          <c:invertIfNegative val="0"/>
          <c:dLbls>
            <c:numFmt formatCode="0.0%" sourceLinked="0"/>
            <c:txPr>
              <a:bodyPr/>
              <a:lstStyle/>
              <a:p>
                <a:pPr>
                  <a:defRPr b="0" i="0" strike="noStrike" sz="1200" u="none">
                    <a:solidFill>
                      <a:srgbClr val="1B2326"/>
                    </a:solidFill>
                    <a:latin typeface="+mn-lt"/>
                  </a:defRPr>
                </a:pPr>
              </a:p>
            </c:txPr>
            <c:showLegendKey val="0"/>
            <c:showVal val="1"/>
            <c:showCatName val="0"/>
            <c:showSerName val="0"/>
            <c:showPercent val="0"/>
            <c:showBubbleSize val="0"/>
            <c:showLeaderLines val="0"/>
          </c:dLbls>
          <c:dPt>
            <c:idx val="0"/>
            <c:invertIfNegative val="0"/>
            <c:bubble3D val="0"/>
            <c:spPr>
              <a:solidFill>
                <a:srgbClr val="9CC3BD"/>
              </a:solidFill>
              <a:effectLst/>
            </c:spPr>
          </c:dPt>
          <c:dPt>
            <c:idx val="1"/>
            <c:invertIfNegative val="0"/>
            <c:bubble3D val="0"/>
            <c:spPr>
              <a:solidFill>
                <a:srgbClr val="0F6E68"/>
              </a:solidFill>
              <a:effectLst/>
            </c:spPr>
          </c:dPt>
          <c:dPt>
            <c:idx val="2"/>
            <c:invertIfNegative val="0"/>
            <c:bubble3D val="0"/>
            <c:spPr>
              <a:solidFill>
                <a:srgbClr val="C2553D"/>
              </a:solidFill>
              <a:effectLst/>
            </c:spPr>
          </c:dPt>
          <c:dPt>
            <c:idx val="3"/>
            <c:invertIfNegative val="0"/>
            <c:bubble3D val="0"/>
            <c:spPr>
              <a:solidFill>
                <a:srgbClr val="C2553D"/>
              </a:solidFill>
              <a:effectLst/>
            </c:spPr>
          </c:dPt>
          <c:cat>
            <c:multiLvlStrRef>
              <c:f>Sheet1!$A$2:$A$5</c:f>
              <c:multiLvlStrCache>
                <c:ptCount val="4"/>
                <c:lvl>
                  <c:pt idx="0">
                    <c:v>Tổng thể</c:v>
                  </c:pt>
                  <c:pt idx="1">
                    <c:v>Đã từng liên hệ</c:v>
                  </c:pt>
                  <c:pt idx="2">
                    <c:v>Chưa từng liên hệ</c:v>
                  </c:pt>
                  <c:pt idx="3">
                    <c:v>contact = unknown</c:v>
                  </c:pt>
                </c:lvl>
              </c:multiLvlStrCache>
            </c:multiLvlStrRef>
          </c:cat>
          <c:val>
            <c:numRef>
              <c:f>Sheet1!$B$2:$B$5</c:f>
              <c:numCache>
                <c:formatCode>General</c:formatCode>
                <c:ptCount val="4"/>
                <c:pt idx="0">
                  <c:v>0.629</c:v>
                </c:pt>
                <c:pt idx="1">
                  <c:v>0.858</c:v>
                </c:pt>
                <c:pt idx="2">
                  <c:v>0.504</c:v>
                </c:pt>
                <c:pt idx="3">
                  <c:v>0.14</c:v>
                </c:pt>
              </c:numCache>
            </c:numRef>
          </c:val>
        </c:ser>
        <c:dLbls>
          <c:numFmt formatCode="0.0%" sourceLinked="0"/>
          <c:txPr>
            <a:bodyPr/>
            <a:lstStyle/>
            <a:p>
              <a:pPr>
                <a:defRPr b="0" i="0" strike="noStrike" sz="1200" u="none">
                  <a:solidFill>
                    <a:srgbClr val="1B23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856"/>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b"/>
        <c:majorGridlines>
          <c:spPr>
            <a:ln w="9525" cap="flat">
              <a:solidFill>
                <a:srgbClr val="DDE5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85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Danh — 0:20
Kính chào thầy/cô. Nhóm em trình bày đề tài dự đoán khách hàng có đăng ký tiền gửi có kỳ hạn hay không, dựa trên dữ liệu chiến dịch telesale Bank Marketing.
Bài trình bày đi theo mạch: bài toán → dữ liệu &amp; pipeline → mô hình &amp; kết quả → phân tích lỗi &amp; chọn Champion → kết luận. Mỗi thành viên trình bày đúng phần mình đã làm. Xin mời bạn Lợi.
THUẬT NGỮ THỐNG NHẤT: 'trước cuộc gọi' (pre-call), 'rò rỉ dữ liệu' (leakage), 'Champion' = mô hình chọn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Lợi — 0:50
• Ngân hàng gọi điện mời khách gửi tiền có kỳ hạn. Mỗi cuộc gọi tốn chi phí nhân sự; chỉ khoảng 47% khách đồng ý.
• Mục tiêu: TRƯỚC khi gọi, ước lượng xác suất khách đồng ý P(yes) để xếp hạng danh sách gọi.
• Vì sao dùng ML: quyết định phụ thuộc tổ hợp nhiều thuộc tính (tuổi, số dư, khoản vay, lịch sử liên hệ, tháng). Luật viết tay không bao quát hết tương tác và không điều chỉnh được đánh đổi Precision/Recall. ML học trực tiếp từ 11,162 cuộc gọi lịch sử.
• Đầu ra là xác suất → doanh nghiệp tự chọn ngưỡng theo ngân sách cuộc gọi.
NHẤN MẠNH: đây là bài toán phân loại nhị phân, lớp dương =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Lợi — 0:50
• 11,162 khách, 16 thuộc tính + nhãn deposit. Nhãn gần cân bằng: 52.6% no / 47.4% yes.
• Bốn thách thức phát hiện ở EDA Tuần 1 và quyết định thiết kế Tuần 2:
  1) duration — thời lượng cuộc gọi — chỉ biết SAU cuộc gọi → rò rỉ dữ liệu, phải loại.
  2) Giá trị 'unknown': poutcome 74.6%, contact 21.0%, education 4.5%.
  3) balance, campaign, previous lệch phải mạnh, có outlier.
  4) pdays = −1 là mã 'chưa từng liên hệ', không phải số đo thật.
Chuyển: bạn Nhân trình bày pipeline xử lý các vấn đề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Nhân — 0:50
• Bước đầu tiên là chia Train/Test 80/20, phân tầng theo nhãn, random_state=42 — TRƯỚC mọi phép fit.
• Toàn bộ tiền xử lý nằm trong MỘT sklearn Pipeline gồm 7 bước. fit() chỉ chạy trên X_train (8,929 mẫu); X_test (2,233 mẫu) chỉ đi qua transform().
• Bước đầu PreCallSchemaGuard loại duration và từ chối mọi cột lạ.
• Median điền khuyết, ngưỡng IQR, scaler, bộ chọn Mutual Information đều học từ Train → không có thông tin Test lọt vào.
• Kiểm chứng: transform lại X_test thô cho kết quả trùng khớp file X_test.parquet đã lưu.
Chuyển: bạn Trí trình bày đặc trưng và mã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Trí — 0:50
• Từ 16 thuộc tính thô, bỏ duration còn 15; thêm 24 đặc trưng mới → 39.
• Mã hóa: One-Hot cho biến danh nghĩa, Ordinal cho education, RobustScaler cho biến lệch, StandardScaler cho age, day → 74 cột.
• Chọn Top-32 theo Mutual Information — phát hiện được quan hệ phi tuyến, chỉ fit trên Train. K=32 = 2 × số thuộc tính thô, không tinh chỉnh theo Test.
• Ví dụ đặc trưng mới: age_squared (quan hệ cong theo tuổi), log số dư, cờ đã từng liên hệ (tách mã pdays=−1), sin/cos của tháng (tháng 12 gần tháng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Trí — 0:50
• Ba họ có giả thiết cấu trúc khác nhau: tuyến tính (Lợi), cây/ensemble (Trí), phi tuyến kernel (Danh). Dummy luôn đoán 'no' làm mốc dưới.
• Cùng một quy trình: GridSearch + StratifiedKFold 5 fold, shuffle, random_state=42, scoring = F1-macro, CHỈ trên tập Train.
• Tập Test không tham gia tuning; chỉ dùng một lần ở Tuần 4.
• Kết quả CV: Random Forest cao nhất 0.7233; SVC 0.7178; Logistic 0.6960; Dummy 0.3448.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Nhân — 0:40
• Đường xanh = F1 trên phần train, đường cam = F1 trên validation, theo số mẫu huấn luyện.
• Logistic: hai đường sát nhau (gap 0.002) nhưng thấp → bias cao, mô hình quá đơn giản.
• Random Forest: train 0.886 vs validation 0.722 → gap 0.164, variance cao. Ràng buộc max_depth/min_samples_split và bagging giữ điểm validation tốt nhất.
• SVC: gap 0.021, đường validation còn tăng nhẹ → thêm dữ liệu có thể giúp.
Chuyển: bạn Lợi trình bày kết quả trên tập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Lợi — 1:00
• Vì sao Macro-F1: trung bình F1 của hai lớp với trọng số bằng nhau → buộc mô hình làm tốt cả 'yes' lẫn 'no'. Accuracy che giấu việc bỏ sót lớp 'yes' (Dummy đạt 52.6% Accuracy mà Recall = 0). ROC-AUC và PR-AUC đánh giá độc lập ngưỡng.
• Biểu đồ: CV (Tuần 3) và Test (Tuần 4) gần như trùng nhau → generalization gap ≤ 0.014, không có dấu hiệu overfit lên Test.
• Random Forest dẫn đầu Macro-F1 0.7263, Recall 62.9%, ROC-AUC 0.7747, PR-AUC 0.7774. SVC có Precision cao nhất 78.4%.
• Mọi mô hình vượt xa Dummy (Macro-F1 0.3448).
Chuyển: bạn Trí phân tích đường ROC và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Trí — 1:00
• Đường ROC của Random Forest cao nhất (AUC 0.7747), Youden J = TPR − FPR lớn nhất 0.4554. Ba đường khá sát nhau → khác biệt giữa các họ không lớn.
• Ngưỡng 0.5 không bắt buộc. Hai kịch bản:
  A) Ngân sách gọi ít, cần chắc ăn → ưu tiên Precision: SVC tại 0.5 đạt 78.4%.
  B) Mùa cao điểm huy động vốn → ưu tiên Recall: hạ ngưỡng Random Forest còn ≈ 0.41 → Recall 62.9% → 71.9%, Precision 76.3% → 68.4%.
• Thông điệp: mô hình cho xác suất; ngưỡng là quyết định kinh doanh.
Chuyển: bạn Nhân trình bày ma trận đánh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Nhân — 0:50
• Ngoài độ chính xác còn xét chi phí vận hành, đo trên cùng một máy (8 luồng CPU, scikit-learn 1.9.1).
• Logistic: nhanh nhất (0.64 ms/mẫu), nhẹ nhất (2.6 KB), dễ giải thích nhất, nhưng Macro-F1 thấp nhất.
• Random Forest: Macro-F1 và Recall cao nhất, chấm điểm batch ~24 nghìn mẫu/giây; đổi lại file 41.5 MB, 54 ms cho 1 mẫu, giải thích ở mức trung bình.
• SVC: Precision cao nhất nhưng batch chậm nhất (~2.3 nghìn mẫu/giây), khó giải thích.
• Bối cảnh chấm điểm danh sách gọi theo lô (batch) → độ trễ 1 mẫu không phải ràng buộc chính.
Lưu ý: thời gian đo phụ thuộc phần cứng.
Chuyển: bạn Danh trình bày phân tích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Danh — 0:55
• Ánh xạ 600 lỗi của Random Forest về dữ liệu thô (raw_index trong bank.csv) để xem giá trị thật.
• 65% lỗi là FN — bỏ sót khách sẽ đăng ký.
• 431/600 lỗi (72%) cũng bị CẢ BA mô hình đoán sai → ba họ thuật toán khác nhau sai cùng chỗ → nguyên nhân nằm ở dữ liệu.
• kNN: 84% lỗi nằm ở vùng mà đa số 15 láng giềng gần nhất trong Train mang nhãn ngược lại → chồng lấn lớp.
• Biểu đồ hậu kiểm bằng duration (KHÔNG dùng để huấn luyện): khách FN có cuộc gọi dài 732 giây, gấp đôi nhóm TP (314 s). Họ có hồ sơ 'lạnh' nhưng được thuyết phục trong cuộc gọi. FP từ chối nhanh như nhóm TN.
→ Đây là lỗi không thể khử của bài toán dự đoán trước cuộc gọi, là cái giá có chủ đích của việc loại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Danh — 0:55
• Điểm mù 1 — khách chưa từng được liên hệ (75% tập Test): Recall chỉ 50.4%, so với 85.8% ở khách đã từng liên hệ.
• Điểm mù 2 — contact=unknown: sau điền khuyết thành 'missing' trở thành tín hiệu 'no' gần như tuyệt đối. Trong 107 khách loại này thực sự đăng ký, Random Forest chỉ bắt được 15 (14%), Logistic chỉ bắt được 2.
• So sánh đối đầu (McNemar, chỉ xét các mẫu hai mô hình bất đồng):
  RF đúng 174 / LR đúng 137 → p = 0.041 &lt; 0.05 → RF tốt hơn có ý nghĩa thống kê.
  RF 113 / SVC 103 → p = 0.54 → KHÔNG khác biệt.
• Giải thích cấu trúc: Logistic cộng tính — hệ số contact_missing −0.40 luôn kéo xuống, không biểu diễn được tương tác. Cây sâu 20 tầng có variance cao, dễ học thuộc vùng thưa (khách đã từng liên hệ).
Chuyển: bạn Nhân trình bày quyết định Champion.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Nhân — 0:40
• Bốn bằng chứng định lượng: Macro-F1 Test cao nhất 0.7263; Recall 'yes' cao nhất 62.9%; ROC-AUC 0.7747 và PR-AUC 0.7774 cao nhất; gap CV−Test chỉ −0.003.
• Căn cứ thống kê: thắng Logistic có ý nghĩa (McNemar p = 0.041). So với SVC thì KHÔNG khác biệt có ý nghĩa (p = 0.54), nên dùng tiêu chí phụ: Recall cao hơn 4.3 điểm % và chấm điểm theo lô nhanh hơn ~10 lần.
• Đánh đổi chấp nhận: file 41.5 MB, 54 ms cho 1 mẫu, khả năng giải thích trung bình.
• models/champion_model.pkl là bản sao byte-for-byte của best_tree_model.pkl.
Chuyển: bạn Danh tổng kết.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NÓI: Danh — 0:45
• Đạt được: pipeline chống rò rỉ, tái lập được; so sánh công bằng 3 họ mô hình; Champion Random Forest Macro-F1 0.726, ROC-AUC 0.775; phân tích lỗi có số liệu và kiểm định.
• Hạn chế: phần lớn lỗi do thiếu thông tin trước cuộc gọi; hai điểm mù; xác suất chưa hiệu chỉnh; chưa kiểm tra drift.
• Hướng phát triển: thêm dữ liệu giao dịch/thu nhập; chọn ngưỡng theo chi phí thật; calibration; thử Gradient Boosting; giám sát và huấn luyện lại.
Kết thúc: 'Nhóm em xin cảm ơn, mời thầy/cô đặt câu hỏi.' — Danh điều phối Q&amp;A, chuyển câu hỏi cho đúng người phụ trách.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rgbClr val="0E3B3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B7B79"/>
                </a:solidFill>
                <a:latin typeface="Calibri" pitchFamily="34" charset="0"/>
                <a:ea typeface="Calibri" pitchFamily="34" charset="-122"/>
                <a:cs typeface="Calibri" pitchFamily="34" charset="-120"/>
              </a:rPr>
              <a:t>BTL Machine Learning · Dự đoán đăng ký tiền gửi có kỳ hạn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822960"/>
            <a:ext cx="822960" cy="822960"/>
          </a:xfrm>
          <a:prstGeom prst="ellipse">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937260" y="1028700"/>
            <a:ext cx="411480" cy="411480"/>
          </a:xfrm>
          <a:prstGeom prst="rect">
            <a:avLst/>
          </a:prstGeom>
        </p:spPr>
      </p:pic>
      <p:sp>
        <p:nvSpPr>
          <p:cNvPr id="4" name="Text 1"/>
          <p:cNvSpPr txBox="1"/>
          <p:nvPr/>
        </p:nvSpPr>
        <p:spPr>
          <a:xfrm>
            <a:off x="731520" y="1828800"/>
            <a:ext cx="10058400" cy="365760"/>
          </a:xfrm>
          <a:prstGeom prst="rect">
            <a:avLst/>
          </a:prstGeom>
          <a:noFill/>
          <a:ln/>
        </p:spPr>
        <p:txBody>
          <a:bodyPr wrap="square" lIns="0" tIns="0" rIns="0" bIns="0" rtlCol="0" anchor="t"/>
          <a:lstStyle/>
          <a:p>
            <a:pPr indent="0" marL="0">
              <a:buNone/>
            </a:pPr>
            <a:r>
              <a:rPr lang="en-US" sz="1400" b="1" spc="200" kern="0" dirty="0">
                <a:solidFill>
                  <a:srgbClr val="E0A526"/>
                </a:solidFill>
                <a:latin typeface="Calibri" pitchFamily="34" charset="0"/>
                <a:ea typeface="Calibri" pitchFamily="34" charset="-122"/>
                <a:cs typeface="Calibri" pitchFamily="34" charset="-120"/>
              </a:rPr>
              <a:t>BÀI TẬP LỚN MACHINE LEARNING</a:t>
            </a:r>
            <a:endParaRPr lang="en-US" sz="1400" dirty="0"/>
          </a:p>
        </p:txBody>
      </p:sp>
      <p:sp>
        <p:nvSpPr>
          <p:cNvPr id="5" name="Text 2"/>
          <p:cNvSpPr txBox="1"/>
          <p:nvPr/>
        </p:nvSpPr>
        <p:spPr>
          <a:xfrm>
            <a:off x="731520" y="2240280"/>
            <a:ext cx="10515600" cy="16002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Dự đoán khách hàng đăng ký</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tiền gửi có kỳ hạn</a:t>
            </a:r>
            <a:endParaRPr lang="en-US" sz="4400" dirty="0"/>
          </a:p>
        </p:txBody>
      </p:sp>
      <p:sp>
        <p:nvSpPr>
          <p:cNvPr id="6" name="Text 3"/>
          <p:cNvSpPr txBox="1"/>
          <p:nvPr/>
        </p:nvSpPr>
        <p:spPr>
          <a:xfrm>
            <a:off x="731520" y="3931920"/>
            <a:ext cx="10515600" cy="411480"/>
          </a:xfrm>
          <a:prstGeom prst="rect">
            <a:avLst/>
          </a:prstGeom>
          <a:noFill/>
          <a:ln/>
        </p:spPr>
        <p:txBody>
          <a:bodyPr wrap="square" lIns="0" tIns="0" rIns="0" bIns="0" rtlCol="0" anchor="t"/>
          <a:lstStyle/>
          <a:p>
            <a:pPr indent="0" marL="0">
              <a:buNone/>
            </a:pPr>
            <a:r>
              <a:rPr lang="en-US" sz="1800" dirty="0">
                <a:solidFill>
                  <a:srgbClr val="CFE3E0"/>
                </a:solidFill>
                <a:latin typeface="Calibri" pitchFamily="34" charset="0"/>
                <a:ea typeface="Calibri" pitchFamily="34" charset="-122"/>
                <a:cs typeface="Calibri" pitchFamily="34" charset="-120"/>
              </a:rPr>
              <a:t>Phân loại nhị phân trên dữ liệu Bank Marketing — chấm điểm trước cuộc gọi, không rò rỉ dữ liệu</a:t>
            </a:r>
            <a:endParaRPr lang="en-US" sz="1800" dirty="0"/>
          </a:p>
        </p:txBody>
      </p:sp>
      <p:sp>
        <p:nvSpPr>
          <p:cNvPr id="7" name="Shape 4"/>
          <p:cNvSpPr/>
          <p:nvPr/>
        </p:nvSpPr>
        <p:spPr>
          <a:xfrm>
            <a:off x="731520" y="4892040"/>
            <a:ext cx="2514600" cy="1051560"/>
          </a:xfrm>
          <a:prstGeom prst="roundRect">
            <a:avLst>
              <a:gd name="adj" fmla="val 6957"/>
            </a:avLst>
          </a:prstGeom>
          <a:solidFill>
            <a:srgbClr val="174B4A"/>
          </a:solidFill>
          <a:ln w="12700">
            <a:solidFill>
              <a:srgbClr val="2B6462"/>
            </a:solidFill>
            <a:prstDash val="solid"/>
          </a:ln>
        </p:spPr>
      </p:sp>
      <p:sp>
        <p:nvSpPr>
          <p:cNvPr id="8" name="Text 5"/>
          <p:cNvSpPr txBox="1"/>
          <p:nvPr/>
        </p:nvSpPr>
        <p:spPr>
          <a:xfrm>
            <a:off x="914400" y="5029200"/>
            <a:ext cx="21945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Lợi</a:t>
            </a:r>
            <a:endParaRPr lang="en-US" sz="2000" dirty="0"/>
          </a:p>
        </p:txBody>
      </p:sp>
      <p:sp>
        <p:nvSpPr>
          <p:cNvPr id="9" name="Text 6"/>
          <p:cNvSpPr txBox="1"/>
          <p:nvPr/>
        </p:nvSpPr>
        <p:spPr>
          <a:xfrm>
            <a:off x="914400" y="5413248"/>
            <a:ext cx="2194560" cy="411480"/>
          </a:xfrm>
          <a:prstGeom prst="rect">
            <a:avLst/>
          </a:prstGeom>
          <a:noFill/>
          <a:ln/>
        </p:spPr>
        <p:txBody>
          <a:bodyPr wrap="square" lIns="0" tIns="0" rIns="0" bIns="0" rtlCol="0" anchor="t"/>
          <a:lstStyle/>
          <a:p>
            <a:pPr indent="0" marL="0">
              <a:buNone/>
            </a:pPr>
            <a:r>
              <a:rPr lang="en-US" sz="1200" dirty="0">
                <a:solidFill>
                  <a:srgbClr val="CFE3E0"/>
                </a:solidFill>
                <a:latin typeface="Calibri" pitchFamily="34" charset="0"/>
                <a:ea typeface="Calibri" pitchFamily="34" charset="-122"/>
                <a:cs typeface="Calibri" pitchFamily="34" charset="-120"/>
              </a:rPr>
              <a:t>Metrics · Mô hình tuyến tính</a:t>
            </a:r>
            <a:endParaRPr lang="en-US" sz="1200" dirty="0"/>
          </a:p>
        </p:txBody>
      </p:sp>
      <p:sp>
        <p:nvSpPr>
          <p:cNvPr id="10" name="Shape 7"/>
          <p:cNvSpPr/>
          <p:nvPr/>
        </p:nvSpPr>
        <p:spPr>
          <a:xfrm>
            <a:off x="3474720" y="4892040"/>
            <a:ext cx="2514600" cy="1051560"/>
          </a:xfrm>
          <a:prstGeom prst="roundRect">
            <a:avLst>
              <a:gd name="adj" fmla="val 6957"/>
            </a:avLst>
          </a:prstGeom>
          <a:solidFill>
            <a:srgbClr val="174B4A"/>
          </a:solidFill>
          <a:ln w="12700">
            <a:solidFill>
              <a:srgbClr val="2B6462"/>
            </a:solidFill>
            <a:prstDash val="solid"/>
          </a:ln>
        </p:spPr>
      </p:sp>
      <p:sp>
        <p:nvSpPr>
          <p:cNvPr id="11" name="Text 8"/>
          <p:cNvSpPr txBox="1"/>
          <p:nvPr/>
        </p:nvSpPr>
        <p:spPr>
          <a:xfrm>
            <a:off x="3657600" y="5029200"/>
            <a:ext cx="21945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Trí</a:t>
            </a:r>
            <a:endParaRPr lang="en-US" sz="2000" dirty="0"/>
          </a:p>
        </p:txBody>
      </p:sp>
      <p:sp>
        <p:nvSpPr>
          <p:cNvPr id="12" name="Text 9"/>
          <p:cNvSpPr txBox="1"/>
          <p:nvPr/>
        </p:nvSpPr>
        <p:spPr>
          <a:xfrm>
            <a:off x="3657600" y="5413248"/>
            <a:ext cx="2194560" cy="411480"/>
          </a:xfrm>
          <a:prstGeom prst="rect">
            <a:avLst/>
          </a:prstGeom>
          <a:noFill/>
          <a:ln/>
        </p:spPr>
        <p:txBody>
          <a:bodyPr wrap="square" lIns="0" tIns="0" rIns="0" bIns="0" rtlCol="0" anchor="t"/>
          <a:lstStyle/>
          <a:p>
            <a:pPr indent="0" marL="0">
              <a:buNone/>
            </a:pPr>
            <a:r>
              <a:rPr lang="en-US" sz="1200" dirty="0">
                <a:solidFill>
                  <a:srgbClr val="CFE3E0"/>
                </a:solidFill>
                <a:latin typeface="Calibri" pitchFamily="34" charset="0"/>
                <a:ea typeface="Calibri" pitchFamily="34" charset="-122"/>
                <a:cs typeface="Calibri" pitchFamily="34" charset="-120"/>
              </a:rPr>
              <a:t>Encoding · Random Forest · Biểu đồ</a:t>
            </a:r>
            <a:endParaRPr lang="en-US" sz="1200" dirty="0"/>
          </a:p>
        </p:txBody>
      </p:sp>
      <p:sp>
        <p:nvSpPr>
          <p:cNvPr id="13" name="Shape 10"/>
          <p:cNvSpPr/>
          <p:nvPr/>
        </p:nvSpPr>
        <p:spPr>
          <a:xfrm>
            <a:off x="6217920" y="4892040"/>
            <a:ext cx="2514600" cy="1051560"/>
          </a:xfrm>
          <a:prstGeom prst="roundRect">
            <a:avLst>
              <a:gd name="adj" fmla="val 6957"/>
            </a:avLst>
          </a:prstGeom>
          <a:solidFill>
            <a:srgbClr val="174B4A"/>
          </a:solidFill>
          <a:ln w="12700">
            <a:solidFill>
              <a:srgbClr val="2B6462"/>
            </a:solidFill>
            <a:prstDash val="solid"/>
          </a:ln>
        </p:spPr>
      </p:sp>
      <p:sp>
        <p:nvSpPr>
          <p:cNvPr id="14" name="Text 11"/>
          <p:cNvSpPr txBox="1"/>
          <p:nvPr/>
        </p:nvSpPr>
        <p:spPr>
          <a:xfrm>
            <a:off x="6400800" y="5029200"/>
            <a:ext cx="21945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Danh</a:t>
            </a:r>
            <a:endParaRPr lang="en-US" sz="2000" dirty="0"/>
          </a:p>
        </p:txBody>
      </p:sp>
      <p:sp>
        <p:nvSpPr>
          <p:cNvPr id="15" name="Text 12"/>
          <p:cNvSpPr txBox="1"/>
          <p:nvPr/>
        </p:nvSpPr>
        <p:spPr>
          <a:xfrm>
            <a:off x="6400800" y="5413248"/>
            <a:ext cx="2194560" cy="411480"/>
          </a:xfrm>
          <a:prstGeom prst="rect">
            <a:avLst/>
          </a:prstGeom>
          <a:noFill/>
          <a:ln/>
        </p:spPr>
        <p:txBody>
          <a:bodyPr wrap="square" lIns="0" tIns="0" rIns="0" bIns="0" rtlCol="0" anchor="t"/>
          <a:lstStyle/>
          <a:p>
            <a:pPr indent="0" marL="0">
              <a:buNone/>
            </a:pPr>
            <a:r>
              <a:rPr lang="en-US" sz="1200" dirty="0">
                <a:solidFill>
                  <a:srgbClr val="CFE3E0"/>
                </a:solidFill>
                <a:latin typeface="Calibri" pitchFamily="34" charset="0"/>
                <a:ea typeface="Calibri" pitchFamily="34" charset="-122"/>
                <a:cs typeface="Calibri" pitchFamily="34" charset="-120"/>
              </a:rPr>
              <a:t>SVM · Phân tích lỗi</a:t>
            </a:r>
            <a:endParaRPr lang="en-US" sz="1200" dirty="0"/>
          </a:p>
        </p:txBody>
      </p:sp>
      <p:sp>
        <p:nvSpPr>
          <p:cNvPr id="16" name="Shape 13"/>
          <p:cNvSpPr/>
          <p:nvPr/>
        </p:nvSpPr>
        <p:spPr>
          <a:xfrm>
            <a:off x="8961120" y="4892040"/>
            <a:ext cx="2514600" cy="1051560"/>
          </a:xfrm>
          <a:prstGeom prst="roundRect">
            <a:avLst>
              <a:gd name="adj" fmla="val 6957"/>
            </a:avLst>
          </a:prstGeom>
          <a:solidFill>
            <a:srgbClr val="174B4A"/>
          </a:solidFill>
          <a:ln w="12700">
            <a:solidFill>
              <a:srgbClr val="2B6462"/>
            </a:solidFill>
            <a:prstDash val="solid"/>
          </a:ln>
        </p:spPr>
      </p:sp>
      <p:sp>
        <p:nvSpPr>
          <p:cNvPr id="17" name="Text 14"/>
          <p:cNvSpPr txBox="1"/>
          <p:nvPr/>
        </p:nvSpPr>
        <p:spPr>
          <a:xfrm>
            <a:off x="9144000" y="5029200"/>
            <a:ext cx="21945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Nhân</a:t>
            </a:r>
            <a:endParaRPr lang="en-US" sz="2000" dirty="0"/>
          </a:p>
        </p:txBody>
      </p:sp>
      <p:sp>
        <p:nvSpPr>
          <p:cNvPr id="18" name="Text 15"/>
          <p:cNvSpPr txBox="1"/>
          <p:nvPr/>
        </p:nvSpPr>
        <p:spPr>
          <a:xfrm>
            <a:off x="9144000" y="5413248"/>
            <a:ext cx="2194560" cy="411480"/>
          </a:xfrm>
          <a:prstGeom prst="rect">
            <a:avLst/>
          </a:prstGeom>
          <a:noFill/>
          <a:ln/>
        </p:spPr>
        <p:txBody>
          <a:bodyPr wrap="square" lIns="0" tIns="0" rIns="0" bIns="0" rtlCol="0" anchor="t"/>
          <a:lstStyle/>
          <a:p>
            <a:pPr indent="0" marL="0">
              <a:buNone/>
            </a:pPr>
            <a:r>
              <a:rPr lang="en-US" sz="1200" dirty="0">
                <a:solidFill>
                  <a:srgbClr val="CFE3E0"/>
                </a:solidFill>
                <a:latin typeface="Calibri" pitchFamily="34" charset="0"/>
                <a:ea typeface="Calibri" pitchFamily="34" charset="-122"/>
                <a:cs typeface="Calibri" pitchFamily="34" charset="-120"/>
              </a:rPr>
              <a:t>Pipeline · Benchmark · Champion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Bài toán: gọi ai trước trong chiến dịch telesale?</a:t>
            </a:r>
            <a:endParaRPr lang="en-US" sz="3000" dirty="0"/>
          </a:p>
        </p:txBody>
      </p:sp>
      <p:sp>
        <p:nvSpPr>
          <p:cNvPr id="4" name="Shape 1"/>
          <p:cNvSpPr/>
          <p:nvPr/>
        </p:nvSpPr>
        <p:spPr>
          <a:xfrm>
            <a:off x="548640" y="1417320"/>
            <a:ext cx="5120640" cy="4206240"/>
          </a:xfrm>
          <a:prstGeom prst="roundRect">
            <a:avLst>
              <a:gd name="adj" fmla="val 1739"/>
            </a:avLst>
          </a:prstGeom>
          <a:solidFill>
            <a:srgbClr val="EDF3F2"/>
          </a:solidFill>
          <a:ln w="12700">
            <a:solidFill>
              <a:srgbClr val="EDF3F2"/>
            </a:solidFill>
            <a:prstDash val="solid"/>
          </a:ln>
        </p:spPr>
      </p:sp>
      <p:sp>
        <p:nvSpPr>
          <p:cNvPr id="5" name="Shape 2"/>
          <p:cNvSpPr/>
          <p:nvPr/>
        </p:nvSpPr>
        <p:spPr>
          <a:xfrm>
            <a:off x="868680" y="1691640"/>
            <a:ext cx="566928" cy="566928"/>
          </a:xfrm>
          <a:prstGeom prst="ellipse">
            <a:avLst/>
          </a:prstGeom>
          <a:solidFill>
            <a:srgbClr val="0F6E68"/>
          </a:solidFill>
          <a:ln w="12700">
            <a:solidFill>
              <a:srgbClr val="0F6E68"/>
            </a:solidFill>
            <a:prstDash val="solid"/>
          </a:ln>
        </p:spPr>
      </p:sp>
      <p:pic>
        <p:nvPicPr>
          <p:cNvPr id="6" name="Image 0" descr="preencoded.png">    </p:cNvPr>
          <p:cNvPicPr>
            <a:picLocks noChangeAspect="1"/>
          </p:cNvPicPr>
          <p:nvPr/>
        </p:nvPicPr>
        <p:blipFill>
          <a:blip r:embed="rId1"/>
          <a:stretch>
            <a:fillRect/>
          </a:stretch>
        </p:blipFill>
        <p:spPr>
          <a:xfrm>
            <a:off x="1010412" y="1833372"/>
            <a:ext cx="283464" cy="283464"/>
          </a:xfrm>
          <a:prstGeom prst="rect">
            <a:avLst/>
          </a:prstGeom>
        </p:spPr>
      </p:pic>
      <p:sp>
        <p:nvSpPr>
          <p:cNvPr id="7" name="Text 3"/>
          <p:cNvSpPr txBox="1"/>
          <p:nvPr/>
        </p:nvSpPr>
        <p:spPr>
          <a:xfrm>
            <a:off x="1600200" y="1737360"/>
            <a:ext cx="3840480" cy="457200"/>
          </a:xfrm>
          <a:prstGeom prst="rect">
            <a:avLst/>
          </a:prstGeom>
          <a:noFill/>
          <a:ln/>
        </p:spPr>
        <p:txBody>
          <a:bodyPr wrap="square" lIns="0" tIns="0" rIns="0" bIns="0" rtlCol="0" anchor="t"/>
          <a:lstStyle/>
          <a:p>
            <a:pPr indent="0" marL="0">
              <a:buNone/>
            </a:pPr>
            <a:r>
              <a:rPr lang="en-US" sz="2000" b="1" dirty="0">
                <a:solidFill>
                  <a:srgbClr val="0E3B3A"/>
                </a:solidFill>
                <a:latin typeface="Cambria" pitchFamily="34" charset="0"/>
                <a:ea typeface="Cambria" pitchFamily="34" charset="-122"/>
                <a:cs typeface="Cambria" pitchFamily="34" charset="-120"/>
              </a:rPr>
              <a:t>Bối cảnh nghiệp vụ</a:t>
            </a:r>
            <a:endParaRPr lang="en-US" sz="2000" dirty="0"/>
          </a:p>
        </p:txBody>
      </p:sp>
      <p:sp>
        <p:nvSpPr>
          <p:cNvPr id="8" name="Text 4"/>
          <p:cNvSpPr txBox="1"/>
          <p:nvPr/>
        </p:nvSpPr>
        <p:spPr>
          <a:xfrm>
            <a:off x="868680" y="2423160"/>
            <a:ext cx="457200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326"/>
                </a:solidFill>
                <a:latin typeface="Calibri" pitchFamily="34" charset="0"/>
                <a:ea typeface="Calibri" pitchFamily="34" charset="-122"/>
                <a:cs typeface="Calibri" pitchFamily="34" charset="-120"/>
              </a:rPr>
              <a:t>Ngân hàng gọi telesale mời khách gửi tiền có kỳ hạn</a:t>
            </a:r>
            <a:endParaRPr lang="en-US" sz="1500" dirty="0"/>
          </a:p>
          <a:p>
            <a:pPr marL="342900" indent="-342900">
              <a:spcAft>
                <a:spcPts val="600"/>
              </a:spcAft>
              <a:buSzPct val="100000"/>
              <a:buChar char="•"/>
            </a:pPr>
            <a:r>
              <a:rPr lang="en-US" sz="1500" dirty="0">
                <a:solidFill>
                  <a:srgbClr val="1B2326"/>
                </a:solidFill>
                <a:latin typeface="Calibri" pitchFamily="34" charset="0"/>
                <a:ea typeface="Calibri" pitchFamily="34" charset="-122"/>
                <a:cs typeface="Calibri" pitchFamily="34" charset="-120"/>
              </a:rPr>
              <a:t>Mỗi cuộc gọi tốn thời gian và chi phí nhân sự</a:t>
            </a:r>
            <a:endParaRPr lang="en-US" sz="1500" dirty="0"/>
          </a:p>
          <a:p>
            <a:pPr marL="342900" indent="-342900">
              <a:spcAft>
                <a:spcPts val="600"/>
              </a:spcAft>
              <a:buSzPct val="100000"/>
              <a:buChar char="•"/>
            </a:pPr>
            <a:r>
              <a:rPr lang="en-US" sz="1500" dirty="0">
                <a:solidFill>
                  <a:srgbClr val="1B2326"/>
                </a:solidFill>
                <a:latin typeface="Calibri" pitchFamily="34" charset="0"/>
                <a:ea typeface="Calibri" pitchFamily="34" charset="-122"/>
                <a:cs typeface="Calibri" pitchFamily="34" charset="-120"/>
              </a:rPr>
              <a:t>Chỉ 47.4% khách trong dữ liệu đồng ý</a:t>
            </a:r>
            <a:endParaRPr lang="en-US" sz="1500" dirty="0"/>
          </a:p>
        </p:txBody>
      </p:sp>
      <p:sp>
        <p:nvSpPr>
          <p:cNvPr id="9" name="Shape 5"/>
          <p:cNvSpPr/>
          <p:nvPr/>
        </p:nvSpPr>
        <p:spPr>
          <a:xfrm>
            <a:off x="868680" y="3611880"/>
            <a:ext cx="4480560" cy="1737360"/>
          </a:xfrm>
          <a:prstGeom prst="roundRect">
            <a:avLst>
              <a:gd name="adj" fmla="val 4211"/>
            </a:avLst>
          </a:prstGeom>
          <a:solidFill>
            <a:srgbClr val="0E3B3A"/>
          </a:solidFill>
          <a:ln w="12700">
            <a:solidFill>
              <a:srgbClr val="0E3B3A"/>
            </a:solidFill>
            <a:prstDash val="solid"/>
          </a:ln>
        </p:spPr>
      </p:sp>
      <p:sp>
        <p:nvSpPr>
          <p:cNvPr id="10" name="Text 6"/>
          <p:cNvSpPr txBox="1"/>
          <p:nvPr/>
        </p:nvSpPr>
        <p:spPr>
          <a:xfrm>
            <a:off x="1097280" y="3767328"/>
            <a:ext cx="4023360" cy="320040"/>
          </a:xfrm>
          <a:prstGeom prst="rect">
            <a:avLst/>
          </a:prstGeom>
          <a:noFill/>
          <a:ln/>
        </p:spPr>
        <p:txBody>
          <a:bodyPr wrap="square" lIns="0" tIns="0" rIns="0" bIns="0" rtlCol="0" anchor="t"/>
          <a:lstStyle/>
          <a:p>
            <a:pPr indent="0" marL="0">
              <a:buNone/>
            </a:pPr>
            <a:r>
              <a:rPr lang="en-US" sz="1200" b="1" spc="200" kern="0" dirty="0">
                <a:solidFill>
                  <a:srgbClr val="E0A526"/>
                </a:solidFill>
                <a:latin typeface="Calibri" pitchFamily="34" charset="0"/>
                <a:ea typeface="Calibri" pitchFamily="34" charset="-122"/>
                <a:cs typeface="Calibri" pitchFamily="34" charset="-120"/>
              </a:rPr>
              <a:t>MỤC TIÊU</a:t>
            </a:r>
            <a:endParaRPr lang="en-US" sz="1200" dirty="0"/>
          </a:p>
        </p:txBody>
      </p:sp>
      <p:sp>
        <p:nvSpPr>
          <p:cNvPr id="11" name="Text 7"/>
          <p:cNvSpPr txBox="1"/>
          <p:nvPr/>
        </p:nvSpPr>
        <p:spPr>
          <a:xfrm>
            <a:off x="1097280" y="4114800"/>
            <a:ext cx="4069080" cy="10972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Ước lượng P(yes) của từng khách TRƯỚC khi gọi để ưu tiên danh sách gọi</a:t>
            </a:r>
            <a:endParaRPr lang="en-US" sz="1900" dirty="0"/>
          </a:p>
        </p:txBody>
      </p:sp>
      <p:sp>
        <p:nvSpPr>
          <p:cNvPr id="12" name="Text 8"/>
          <p:cNvSpPr txBox="1"/>
          <p:nvPr/>
        </p:nvSpPr>
        <p:spPr>
          <a:xfrm>
            <a:off x="6126480" y="1463040"/>
            <a:ext cx="5486400" cy="457200"/>
          </a:xfrm>
          <a:prstGeom prst="rect">
            <a:avLst/>
          </a:prstGeom>
          <a:noFill/>
          <a:ln/>
        </p:spPr>
        <p:txBody>
          <a:bodyPr wrap="square" lIns="0" tIns="0" rIns="0" bIns="0" rtlCol="0" anchor="t"/>
          <a:lstStyle/>
          <a:p>
            <a:pPr indent="0" marL="0">
              <a:buNone/>
            </a:pPr>
            <a:r>
              <a:rPr lang="en-US" sz="2000" b="1" dirty="0">
                <a:solidFill>
                  <a:srgbClr val="0E3B3A"/>
                </a:solidFill>
                <a:latin typeface="Cambria" pitchFamily="34" charset="0"/>
                <a:ea typeface="Cambria" pitchFamily="34" charset="-122"/>
                <a:cs typeface="Cambria" pitchFamily="34" charset="-120"/>
              </a:rPr>
              <a:t>Vì sao chọn Machine Learning?</a:t>
            </a:r>
            <a:endParaRPr lang="en-US" sz="2000" dirty="0"/>
          </a:p>
        </p:txBody>
      </p:sp>
      <p:sp>
        <p:nvSpPr>
          <p:cNvPr id="13" name="Shape 9"/>
          <p:cNvSpPr/>
          <p:nvPr/>
        </p:nvSpPr>
        <p:spPr>
          <a:xfrm>
            <a:off x="6126480" y="2148840"/>
            <a:ext cx="566928" cy="566928"/>
          </a:xfrm>
          <a:prstGeom prst="ellipse">
            <a:avLst/>
          </a:prstGeom>
          <a:solidFill>
            <a:srgbClr val="0F6E68"/>
          </a:solidFill>
          <a:ln w="12700">
            <a:solidFill>
              <a:srgbClr val="0F6E68"/>
            </a:solidFill>
            <a:prstDash val="solid"/>
          </a:ln>
        </p:spPr>
      </p:sp>
      <p:pic>
        <p:nvPicPr>
          <p:cNvPr id="14" name="Image 1" descr="preencoded.png">    </p:cNvPr>
          <p:cNvPicPr>
            <a:picLocks noChangeAspect="1"/>
          </p:cNvPicPr>
          <p:nvPr/>
        </p:nvPicPr>
        <p:blipFill>
          <a:blip r:embed="rId2"/>
          <a:stretch>
            <a:fillRect/>
          </a:stretch>
        </p:blipFill>
        <p:spPr>
          <a:xfrm>
            <a:off x="6268212" y="2290572"/>
            <a:ext cx="283464" cy="283464"/>
          </a:xfrm>
          <a:prstGeom prst="rect">
            <a:avLst/>
          </a:prstGeom>
        </p:spPr>
      </p:pic>
      <p:sp>
        <p:nvSpPr>
          <p:cNvPr id="15" name="Text 10"/>
          <p:cNvSpPr txBox="1"/>
          <p:nvPr/>
        </p:nvSpPr>
        <p:spPr>
          <a:xfrm>
            <a:off x="6903720" y="2130552"/>
            <a:ext cx="4754880" cy="365760"/>
          </a:xfrm>
          <a:prstGeom prst="rect">
            <a:avLst/>
          </a:prstGeom>
          <a:noFill/>
          <a:ln/>
        </p:spPr>
        <p:txBody>
          <a:bodyPr wrap="square" lIns="0" tIns="0" rIns="0" bIns="0" rtlCol="0" anchor="t"/>
          <a:lstStyle/>
          <a:p>
            <a:pPr indent="0" marL="0">
              <a:buNone/>
            </a:pPr>
            <a:r>
              <a:rPr lang="en-US" sz="1700" b="1" dirty="0">
                <a:solidFill>
                  <a:srgbClr val="0E3B3A"/>
                </a:solidFill>
                <a:latin typeface="Calibri" pitchFamily="34" charset="0"/>
                <a:ea typeface="Calibri" pitchFamily="34" charset="-122"/>
                <a:cs typeface="Calibri" pitchFamily="34" charset="-120"/>
              </a:rPr>
              <a:t>Tương tác phức tạp</a:t>
            </a:r>
            <a:endParaRPr lang="en-US" sz="1700" dirty="0"/>
          </a:p>
        </p:txBody>
      </p:sp>
      <p:sp>
        <p:nvSpPr>
          <p:cNvPr id="16" name="Text 11"/>
          <p:cNvSpPr txBox="1"/>
          <p:nvPr/>
        </p:nvSpPr>
        <p:spPr>
          <a:xfrm>
            <a:off x="6903720" y="2514600"/>
            <a:ext cx="4754880" cy="731520"/>
          </a:xfrm>
          <a:prstGeom prst="rect">
            <a:avLst/>
          </a:prstGeom>
          <a:noFill/>
          <a:ln/>
        </p:spPr>
        <p:txBody>
          <a:bodyPr wrap="square" lIns="0" tIns="0" rIns="0" bIns="0" rtlCol="0" anchor="t"/>
          <a:lstStyle/>
          <a:p>
            <a:pPr indent="0" marL="0">
              <a:buNone/>
            </a:pPr>
            <a:r>
              <a:rPr lang="en-US" sz="1400" dirty="0">
                <a:solidFill>
                  <a:srgbClr val="3A4644"/>
                </a:solidFill>
                <a:latin typeface="Calibri" pitchFamily="34" charset="0"/>
                <a:ea typeface="Calibri" pitchFamily="34" charset="-122"/>
                <a:cs typeface="Calibri" pitchFamily="34" charset="-120"/>
              </a:rPr>
              <a:t>Kết quả phụ thuộc tổ hợp tuổi, số dư, khoản vay, lịch sử liên hệ, tháng — khó viết thành luật</a:t>
            </a:r>
            <a:endParaRPr lang="en-US" sz="1400" dirty="0"/>
          </a:p>
        </p:txBody>
      </p:sp>
      <p:sp>
        <p:nvSpPr>
          <p:cNvPr id="17" name="Shape 12"/>
          <p:cNvSpPr/>
          <p:nvPr/>
        </p:nvSpPr>
        <p:spPr>
          <a:xfrm>
            <a:off x="6126480" y="3474720"/>
            <a:ext cx="566928" cy="566928"/>
          </a:xfrm>
          <a:prstGeom prst="ellipse">
            <a:avLst/>
          </a:prstGeom>
          <a:solidFill>
            <a:srgbClr val="0F6E68"/>
          </a:solidFill>
          <a:ln w="12700">
            <a:solidFill>
              <a:srgbClr val="0F6E68"/>
            </a:solidFill>
            <a:prstDash val="solid"/>
          </a:ln>
        </p:spPr>
      </p:sp>
      <p:pic>
        <p:nvPicPr>
          <p:cNvPr id="18" name="Image 2" descr="preencoded.png">    </p:cNvPr>
          <p:cNvPicPr>
            <a:picLocks noChangeAspect="1"/>
          </p:cNvPicPr>
          <p:nvPr/>
        </p:nvPicPr>
        <p:blipFill>
          <a:blip r:embed="rId3"/>
          <a:stretch>
            <a:fillRect/>
          </a:stretch>
        </p:blipFill>
        <p:spPr>
          <a:xfrm>
            <a:off x="6268212" y="3616452"/>
            <a:ext cx="283464" cy="283464"/>
          </a:xfrm>
          <a:prstGeom prst="rect">
            <a:avLst/>
          </a:prstGeom>
        </p:spPr>
      </p:pic>
      <p:sp>
        <p:nvSpPr>
          <p:cNvPr id="19" name="Text 13"/>
          <p:cNvSpPr txBox="1"/>
          <p:nvPr/>
        </p:nvSpPr>
        <p:spPr>
          <a:xfrm>
            <a:off x="6903720" y="3456432"/>
            <a:ext cx="4754880" cy="365760"/>
          </a:xfrm>
          <a:prstGeom prst="rect">
            <a:avLst/>
          </a:prstGeom>
          <a:noFill/>
          <a:ln/>
        </p:spPr>
        <p:txBody>
          <a:bodyPr wrap="square" lIns="0" tIns="0" rIns="0" bIns="0" rtlCol="0" anchor="t"/>
          <a:lstStyle/>
          <a:p>
            <a:pPr indent="0" marL="0">
              <a:buNone/>
            </a:pPr>
            <a:r>
              <a:rPr lang="en-US" sz="1700" b="1" dirty="0">
                <a:solidFill>
                  <a:srgbClr val="0E3B3A"/>
                </a:solidFill>
                <a:latin typeface="Calibri" pitchFamily="34" charset="0"/>
                <a:ea typeface="Calibri" pitchFamily="34" charset="-122"/>
                <a:cs typeface="Calibri" pitchFamily="34" charset="-120"/>
              </a:rPr>
              <a:t>Điều chỉnh được đánh đổi</a:t>
            </a:r>
            <a:endParaRPr lang="en-US" sz="1700" dirty="0"/>
          </a:p>
        </p:txBody>
      </p:sp>
      <p:sp>
        <p:nvSpPr>
          <p:cNvPr id="20" name="Text 14"/>
          <p:cNvSpPr txBox="1"/>
          <p:nvPr/>
        </p:nvSpPr>
        <p:spPr>
          <a:xfrm>
            <a:off x="6903720" y="3840480"/>
            <a:ext cx="4754880" cy="731520"/>
          </a:xfrm>
          <a:prstGeom prst="rect">
            <a:avLst/>
          </a:prstGeom>
          <a:noFill/>
          <a:ln/>
        </p:spPr>
        <p:txBody>
          <a:bodyPr wrap="square" lIns="0" tIns="0" rIns="0" bIns="0" rtlCol="0" anchor="t"/>
          <a:lstStyle/>
          <a:p>
            <a:pPr indent="0" marL="0">
              <a:buNone/>
            </a:pPr>
            <a:r>
              <a:rPr lang="en-US" sz="1400" dirty="0">
                <a:solidFill>
                  <a:srgbClr val="3A4644"/>
                </a:solidFill>
                <a:latin typeface="Calibri" pitchFamily="34" charset="0"/>
                <a:ea typeface="Calibri" pitchFamily="34" charset="-122"/>
                <a:cs typeface="Calibri" pitchFamily="34" charset="-120"/>
              </a:rPr>
              <a:t>Đầu ra là xác suất: chọn ngưỡng theo ngân sách cuộc gọi (Precision ↔ Recall)</a:t>
            </a:r>
            <a:endParaRPr lang="en-US" sz="1400" dirty="0"/>
          </a:p>
        </p:txBody>
      </p:sp>
      <p:sp>
        <p:nvSpPr>
          <p:cNvPr id="21" name="Shape 15"/>
          <p:cNvSpPr/>
          <p:nvPr/>
        </p:nvSpPr>
        <p:spPr>
          <a:xfrm>
            <a:off x="6126480" y="4800600"/>
            <a:ext cx="566928" cy="566928"/>
          </a:xfrm>
          <a:prstGeom prst="ellipse">
            <a:avLst/>
          </a:prstGeom>
          <a:solidFill>
            <a:srgbClr val="0F6E68"/>
          </a:solidFill>
          <a:ln w="12700">
            <a:solidFill>
              <a:srgbClr val="0F6E68"/>
            </a:solidFill>
            <a:prstDash val="solid"/>
          </a:ln>
        </p:spPr>
      </p:sp>
      <p:pic>
        <p:nvPicPr>
          <p:cNvPr id="22" name="Image 3" descr="preencoded.png">    </p:cNvPr>
          <p:cNvPicPr>
            <a:picLocks noChangeAspect="1"/>
          </p:cNvPicPr>
          <p:nvPr/>
        </p:nvPicPr>
        <p:blipFill>
          <a:blip r:embed="rId4"/>
          <a:stretch>
            <a:fillRect/>
          </a:stretch>
        </p:blipFill>
        <p:spPr>
          <a:xfrm>
            <a:off x="6268212" y="4942332"/>
            <a:ext cx="283464" cy="283464"/>
          </a:xfrm>
          <a:prstGeom prst="rect">
            <a:avLst/>
          </a:prstGeom>
        </p:spPr>
      </p:pic>
      <p:sp>
        <p:nvSpPr>
          <p:cNvPr id="23" name="Text 16"/>
          <p:cNvSpPr txBox="1"/>
          <p:nvPr/>
        </p:nvSpPr>
        <p:spPr>
          <a:xfrm>
            <a:off x="6903720" y="4782312"/>
            <a:ext cx="4754880" cy="365760"/>
          </a:xfrm>
          <a:prstGeom prst="rect">
            <a:avLst/>
          </a:prstGeom>
          <a:noFill/>
          <a:ln/>
        </p:spPr>
        <p:txBody>
          <a:bodyPr wrap="square" lIns="0" tIns="0" rIns="0" bIns="0" rtlCol="0" anchor="t"/>
          <a:lstStyle/>
          <a:p>
            <a:pPr indent="0" marL="0">
              <a:buNone/>
            </a:pPr>
            <a:r>
              <a:rPr lang="en-US" sz="1700" b="1" dirty="0">
                <a:solidFill>
                  <a:srgbClr val="0E3B3A"/>
                </a:solidFill>
                <a:latin typeface="Calibri" pitchFamily="34" charset="0"/>
                <a:ea typeface="Calibri" pitchFamily="34" charset="-122"/>
                <a:cs typeface="Calibri" pitchFamily="34" charset="-120"/>
              </a:rPr>
              <a:t>Học từ dữ liệu lịch sử</a:t>
            </a:r>
            <a:endParaRPr lang="en-US" sz="1700" dirty="0"/>
          </a:p>
        </p:txBody>
      </p:sp>
      <p:sp>
        <p:nvSpPr>
          <p:cNvPr id="24" name="Text 17"/>
          <p:cNvSpPr txBox="1"/>
          <p:nvPr/>
        </p:nvSpPr>
        <p:spPr>
          <a:xfrm>
            <a:off x="6903720" y="5166360"/>
            <a:ext cx="4754880" cy="731520"/>
          </a:xfrm>
          <a:prstGeom prst="rect">
            <a:avLst/>
          </a:prstGeom>
          <a:noFill/>
          <a:ln/>
        </p:spPr>
        <p:txBody>
          <a:bodyPr wrap="square" lIns="0" tIns="0" rIns="0" bIns="0" rtlCol="0" anchor="t"/>
          <a:lstStyle/>
          <a:p>
            <a:pPr indent="0" marL="0">
              <a:buNone/>
            </a:pPr>
            <a:r>
              <a:rPr lang="en-US" sz="1400" dirty="0">
                <a:solidFill>
                  <a:srgbClr val="3A4644"/>
                </a:solidFill>
                <a:latin typeface="Calibri" pitchFamily="34" charset="0"/>
                <a:ea typeface="Calibri" pitchFamily="34" charset="-122"/>
                <a:cs typeface="Calibri" pitchFamily="34" charset="-120"/>
              </a:rPr>
              <a:t>11,162 cuộc gọi có nhãn; huấn luyện lại khi có chiến dịch mới</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Dữ liệu và bốn thách thức chính</a:t>
            </a:r>
            <a:endParaRPr lang="en-US" sz="3000" dirty="0"/>
          </a:p>
        </p:txBody>
      </p:sp>
      <p:graphicFrame>
        <p:nvGraphicFramePr>
          <p:cNvPr id="4" name="Chart 0" descr=""/>
          <p:cNvGraphicFramePr/>
          <p:nvPr/>
        </p:nvGraphicFramePr>
        <p:xfrm>
          <a:off x="548640" y="1371600"/>
          <a:ext cx="4023360" cy="36576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85800" y="5120640"/>
            <a:ext cx="3931920" cy="1097280"/>
          </a:xfrm>
          <a:prstGeom prst="rect">
            <a:avLst/>
          </a:prstGeom>
          <a:noFill/>
          <a:ln/>
        </p:spPr>
        <p:txBody>
          <a:bodyPr wrap="square" lIns="0" tIns="0" rIns="0" bIns="0" rtlCol="0" anchor="t"/>
          <a:lstStyle/>
          <a:p>
            <a:pPr indent="0" marL="0">
              <a:buNone/>
            </a:pPr>
            <a:r>
              <a:rPr lang="en-US" sz="3600" b="1" dirty="0">
                <a:solidFill>
                  <a:srgbClr val="0E3B3A"/>
                </a:solidFill>
                <a:latin typeface="Cambria" pitchFamily="34" charset="0"/>
                <a:ea typeface="Cambria" pitchFamily="34" charset="-122"/>
                <a:cs typeface="Cambria" pitchFamily="34" charset="-120"/>
              </a:rPr>
              <a:t>11,162</a:t>
            </a:r>
            <a:endParaRPr lang="en-US" sz="1400" dirty="0"/>
          </a:p>
          <a:p>
            <a:pPr indent="0" marL="0">
              <a:buNone/>
            </a:pPr>
            <a:r>
              <a:rPr lang="en-US" sz="1400" dirty="0">
                <a:solidFill>
                  <a:srgbClr val="3A4644"/>
                </a:solidFill>
                <a:latin typeface="Calibri" pitchFamily="34" charset="0"/>
                <a:ea typeface="Calibri" pitchFamily="34" charset="-122"/>
                <a:cs typeface="Calibri" pitchFamily="34" charset="-120"/>
              </a:rPr>
              <a:t>khách hàng · 16 thuộc tính · nhãn gần cân bằng</a:t>
            </a:r>
            <a:endParaRPr lang="en-US" sz="1400" dirty="0"/>
          </a:p>
        </p:txBody>
      </p:sp>
      <p:sp>
        <p:nvSpPr>
          <p:cNvPr id="6" name="Shape 2"/>
          <p:cNvSpPr/>
          <p:nvPr/>
        </p:nvSpPr>
        <p:spPr>
          <a:xfrm>
            <a:off x="5074920" y="1463040"/>
            <a:ext cx="3154680" cy="2148840"/>
          </a:xfrm>
          <a:prstGeom prst="roundRect">
            <a:avLst>
              <a:gd name="adj" fmla="val 3404"/>
            </a:avLst>
          </a:prstGeom>
          <a:solidFill>
            <a:srgbClr val="EDF3F2"/>
          </a:solidFill>
          <a:ln w="12700">
            <a:solidFill>
              <a:srgbClr val="EDF3F2"/>
            </a:solidFill>
            <a:prstDash val="solid"/>
          </a:ln>
        </p:spPr>
      </p:sp>
      <p:sp>
        <p:nvSpPr>
          <p:cNvPr id="7" name="Shape 3"/>
          <p:cNvSpPr/>
          <p:nvPr/>
        </p:nvSpPr>
        <p:spPr>
          <a:xfrm>
            <a:off x="5303520" y="1691640"/>
            <a:ext cx="566928" cy="566928"/>
          </a:xfrm>
          <a:prstGeom prst="ellipse">
            <a:avLst/>
          </a:prstGeom>
          <a:solidFill>
            <a:srgbClr val="C2553D"/>
          </a:solidFill>
          <a:ln w="12700">
            <a:solidFill>
              <a:srgbClr val="C2553D"/>
            </a:solidFill>
            <a:prstDash val="solid"/>
          </a:ln>
        </p:spPr>
      </p:sp>
      <p:pic>
        <p:nvPicPr>
          <p:cNvPr id="8" name="Image 0" descr="preencoded.png">    </p:cNvPr>
          <p:cNvPicPr>
            <a:picLocks noChangeAspect="1"/>
          </p:cNvPicPr>
          <p:nvPr/>
        </p:nvPicPr>
        <p:blipFill>
          <a:blip r:embed="rId2"/>
          <a:stretch>
            <a:fillRect/>
          </a:stretch>
        </p:blipFill>
        <p:spPr>
          <a:xfrm>
            <a:off x="5445252" y="1833372"/>
            <a:ext cx="283464" cy="283464"/>
          </a:xfrm>
          <a:prstGeom prst="rect">
            <a:avLst/>
          </a:prstGeom>
        </p:spPr>
      </p:pic>
      <p:sp>
        <p:nvSpPr>
          <p:cNvPr id="9" name="Text 4"/>
          <p:cNvSpPr txBox="1"/>
          <p:nvPr/>
        </p:nvSpPr>
        <p:spPr>
          <a:xfrm>
            <a:off x="5303520" y="2377440"/>
            <a:ext cx="2743200" cy="411480"/>
          </a:xfrm>
          <a:prstGeom prst="rect">
            <a:avLst/>
          </a:prstGeom>
          <a:noFill/>
          <a:ln/>
        </p:spPr>
        <p:txBody>
          <a:bodyPr wrap="square" lIns="0" tIns="0" rIns="0" bIns="0" rtlCol="0" anchor="t"/>
          <a:lstStyle/>
          <a:p>
            <a:pPr indent="0" marL="0">
              <a:buNone/>
            </a:pPr>
            <a:r>
              <a:rPr lang="en-US" sz="1600" b="1" dirty="0">
                <a:solidFill>
                  <a:srgbClr val="0E3B3A"/>
                </a:solidFill>
                <a:latin typeface="Calibri" pitchFamily="34" charset="0"/>
                <a:ea typeface="Calibri" pitchFamily="34" charset="-122"/>
                <a:cs typeface="Calibri" pitchFamily="34" charset="-120"/>
              </a:rPr>
              <a:t>Rò rỉ dữ liệu: duration</a:t>
            </a:r>
            <a:endParaRPr lang="en-US" sz="1600" dirty="0"/>
          </a:p>
        </p:txBody>
      </p:sp>
      <p:sp>
        <p:nvSpPr>
          <p:cNvPr id="10" name="Text 5"/>
          <p:cNvSpPr txBox="1"/>
          <p:nvPr/>
        </p:nvSpPr>
        <p:spPr>
          <a:xfrm>
            <a:off x="5303520" y="2788920"/>
            <a:ext cx="274320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Thời lượng cuộc gọi chỉ biết sau khi gọi → loại khỏi mô hình</a:t>
            </a:r>
            <a:endParaRPr lang="en-US" sz="1300" dirty="0"/>
          </a:p>
        </p:txBody>
      </p:sp>
      <p:sp>
        <p:nvSpPr>
          <p:cNvPr id="11" name="Shape 6"/>
          <p:cNvSpPr/>
          <p:nvPr/>
        </p:nvSpPr>
        <p:spPr>
          <a:xfrm>
            <a:off x="8412480" y="1463040"/>
            <a:ext cx="3154680" cy="2148840"/>
          </a:xfrm>
          <a:prstGeom prst="roundRect">
            <a:avLst>
              <a:gd name="adj" fmla="val 3404"/>
            </a:avLst>
          </a:prstGeom>
          <a:solidFill>
            <a:srgbClr val="EDF3F2"/>
          </a:solidFill>
          <a:ln w="12700">
            <a:solidFill>
              <a:srgbClr val="EDF3F2"/>
            </a:solidFill>
            <a:prstDash val="solid"/>
          </a:ln>
        </p:spPr>
      </p:sp>
      <p:sp>
        <p:nvSpPr>
          <p:cNvPr id="12" name="Shape 7"/>
          <p:cNvSpPr/>
          <p:nvPr/>
        </p:nvSpPr>
        <p:spPr>
          <a:xfrm>
            <a:off x="8641080" y="1691640"/>
            <a:ext cx="566928" cy="566928"/>
          </a:xfrm>
          <a:prstGeom prst="ellipse">
            <a:avLst/>
          </a:prstGeom>
          <a:solidFill>
            <a:srgbClr val="0F6E68"/>
          </a:solidFill>
          <a:ln w="12700">
            <a:solidFill>
              <a:srgbClr val="0F6E68"/>
            </a:solidFill>
            <a:prstDash val="solid"/>
          </a:ln>
        </p:spPr>
      </p:sp>
      <p:pic>
        <p:nvPicPr>
          <p:cNvPr id="13" name="Image 1" descr="preencoded.png">    </p:cNvPr>
          <p:cNvPicPr>
            <a:picLocks noChangeAspect="1"/>
          </p:cNvPicPr>
          <p:nvPr/>
        </p:nvPicPr>
        <p:blipFill>
          <a:blip r:embed="rId3"/>
          <a:stretch>
            <a:fillRect/>
          </a:stretch>
        </p:blipFill>
        <p:spPr>
          <a:xfrm>
            <a:off x="8782812" y="1833372"/>
            <a:ext cx="283464" cy="283464"/>
          </a:xfrm>
          <a:prstGeom prst="rect">
            <a:avLst/>
          </a:prstGeom>
        </p:spPr>
      </p:pic>
      <p:sp>
        <p:nvSpPr>
          <p:cNvPr id="14" name="Text 8"/>
          <p:cNvSpPr txBox="1"/>
          <p:nvPr/>
        </p:nvSpPr>
        <p:spPr>
          <a:xfrm>
            <a:off x="8641080" y="2377440"/>
            <a:ext cx="2743200" cy="411480"/>
          </a:xfrm>
          <a:prstGeom prst="rect">
            <a:avLst/>
          </a:prstGeom>
          <a:noFill/>
          <a:ln/>
        </p:spPr>
        <p:txBody>
          <a:bodyPr wrap="square" lIns="0" tIns="0" rIns="0" bIns="0" rtlCol="0" anchor="t"/>
          <a:lstStyle/>
          <a:p>
            <a:pPr indent="0" marL="0">
              <a:buNone/>
            </a:pPr>
            <a:r>
              <a:rPr lang="en-US" sz="1600" b="1" dirty="0">
                <a:solidFill>
                  <a:srgbClr val="0E3B3A"/>
                </a:solidFill>
                <a:latin typeface="Calibri" pitchFamily="34" charset="0"/>
                <a:ea typeface="Calibri" pitchFamily="34" charset="-122"/>
                <a:cs typeface="Calibri" pitchFamily="34" charset="-120"/>
              </a:rPr>
              <a:t>Nhiều giá trị 'unknown'</a:t>
            </a:r>
            <a:endParaRPr lang="en-US" sz="1600" dirty="0"/>
          </a:p>
        </p:txBody>
      </p:sp>
      <p:sp>
        <p:nvSpPr>
          <p:cNvPr id="15" name="Text 9"/>
          <p:cNvSpPr txBox="1"/>
          <p:nvPr/>
        </p:nvSpPr>
        <p:spPr>
          <a:xfrm>
            <a:off x="8641080" y="2788920"/>
            <a:ext cx="274320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poutcome 74.6% · contact 21.0% · education 4.5%</a:t>
            </a:r>
            <a:endParaRPr lang="en-US" sz="1300" dirty="0"/>
          </a:p>
        </p:txBody>
      </p:sp>
      <p:sp>
        <p:nvSpPr>
          <p:cNvPr id="16" name="Shape 10"/>
          <p:cNvSpPr/>
          <p:nvPr/>
        </p:nvSpPr>
        <p:spPr>
          <a:xfrm>
            <a:off x="5074920" y="3840480"/>
            <a:ext cx="3154680" cy="2148840"/>
          </a:xfrm>
          <a:prstGeom prst="roundRect">
            <a:avLst>
              <a:gd name="adj" fmla="val 3404"/>
            </a:avLst>
          </a:prstGeom>
          <a:solidFill>
            <a:srgbClr val="EDF3F2"/>
          </a:solidFill>
          <a:ln w="12700">
            <a:solidFill>
              <a:srgbClr val="EDF3F2"/>
            </a:solidFill>
            <a:prstDash val="solid"/>
          </a:ln>
        </p:spPr>
      </p:sp>
      <p:sp>
        <p:nvSpPr>
          <p:cNvPr id="17" name="Shape 11"/>
          <p:cNvSpPr/>
          <p:nvPr/>
        </p:nvSpPr>
        <p:spPr>
          <a:xfrm>
            <a:off x="5303520" y="4069080"/>
            <a:ext cx="566928" cy="566928"/>
          </a:xfrm>
          <a:prstGeom prst="ellipse">
            <a:avLst/>
          </a:prstGeom>
          <a:solidFill>
            <a:srgbClr val="0F6E68"/>
          </a:solidFill>
          <a:ln w="12700">
            <a:solidFill>
              <a:srgbClr val="0F6E68"/>
            </a:solidFill>
            <a:prstDash val="solid"/>
          </a:ln>
        </p:spPr>
      </p:sp>
      <p:pic>
        <p:nvPicPr>
          <p:cNvPr id="18" name="Image 2" descr="preencoded.png">    </p:cNvPr>
          <p:cNvPicPr>
            <a:picLocks noChangeAspect="1"/>
          </p:cNvPicPr>
          <p:nvPr/>
        </p:nvPicPr>
        <p:blipFill>
          <a:blip r:embed="rId4"/>
          <a:stretch>
            <a:fillRect/>
          </a:stretch>
        </p:blipFill>
        <p:spPr>
          <a:xfrm>
            <a:off x="5445252" y="4210812"/>
            <a:ext cx="283464" cy="283464"/>
          </a:xfrm>
          <a:prstGeom prst="rect">
            <a:avLst/>
          </a:prstGeom>
        </p:spPr>
      </p:pic>
      <p:sp>
        <p:nvSpPr>
          <p:cNvPr id="19" name="Text 12"/>
          <p:cNvSpPr txBox="1"/>
          <p:nvPr/>
        </p:nvSpPr>
        <p:spPr>
          <a:xfrm>
            <a:off x="5303520" y="4754880"/>
            <a:ext cx="2743200" cy="411480"/>
          </a:xfrm>
          <a:prstGeom prst="rect">
            <a:avLst/>
          </a:prstGeom>
          <a:noFill/>
          <a:ln/>
        </p:spPr>
        <p:txBody>
          <a:bodyPr wrap="square" lIns="0" tIns="0" rIns="0" bIns="0" rtlCol="0" anchor="t"/>
          <a:lstStyle/>
          <a:p>
            <a:pPr indent="0" marL="0">
              <a:buNone/>
            </a:pPr>
            <a:r>
              <a:rPr lang="en-US" sz="1600" b="1" dirty="0">
                <a:solidFill>
                  <a:srgbClr val="0E3B3A"/>
                </a:solidFill>
                <a:latin typeface="Calibri" pitchFamily="34" charset="0"/>
                <a:ea typeface="Calibri" pitchFamily="34" charset="-122"/>
                <a:cs typeface="Calibri" pitchFamily="34" charset="-120"/>
              </a:rPr>
              <a:t>Lệch phải &amp; outlier</a:t>
            </a:r>
            <a:endParaRPr lang="en-US" sz="1600" dirty="0"/>
          </a:p>
        </p:txBody>
      </p:sp>
      <p:sp>
        <p:nvSpPr>
          <p:cNvPr id="20" name="Text 13"/>
          <p:cNvSpPr txBox="1"/>
          <p:nvPr/>
        </p:nvSpPr>
        <p:spPr>
          <a:xfrm>
            <a:off x="5303520" y="5166360"/>
            <a:ext cx="274320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balance, campaign, previous có đuôi dài, giá trị cực đoan</a:t>
            </a:r>
            <a:endParaRPr lang="en-US" sz="1300" dirty="0"/>
          </a:p>
        </p:txBody>
      </p:sp>
      <p:sp>
        <p:nvSpPr>
          <p:cNvPr id="21" name="Shape 14"/>
          <p:cNvSpPr/>
          <p:nvPr/>
        </p:nvSpPr>
        <p:spPr>
          <a:xfrm>
            <a:off x="8412480" y="3840480"/>
            <a:ext cx="3154680" cy="2148840"/>
          </a:xfrm>
          <a:prstGeom prst="roundRect">
            <a:avLst>
              <a:gd name="adj" fmla="val 3404"/>
            </a:avLst>
          </a:prstGeom>
          <a:solidFill>
            <a:srgbClr val="EDF3F2"/>
          </a:solidFill>
          <a:ln w="12700">
            <a:solidFill>
              <a:srgbClr val="EDF3F2"/>
            </a:solidFill>
            <a:prstDash val="solid"/>
          </a:ln>
        </p:spPr>
      </p:sp>
      <p:sp>
        <p:nvSpPr>
          <p:cNvPr id="22" name="Shape 15"/>
          <p:cNvSpPr/>
          <p:nvPr/>
        </p:nvSpPr>
        <p:spPr>
          <a:xfrm>
            <a:off x="8641080" y="4069080"/>
            <a:ext cx="566928" cy="566928"/>
          </a:xfrm>
          <a:prstGeom prst="ellipse">
            <a:avLst/>
          </a:prstGeom>
          <a:solidFill>
            <a:srgbClr val="0F6E68"/>
          </a:solidFill>
          <a:ln w="12700">
            <a:solidFill>
              <a:srgbClr val="0F6E68"/>
            </a:solidFill>
            <a:prstDash val="solid"/>
          </a:ln>
        </p:spPr>
      </p:sp>
      <p:pic>
        <p:nvPicPr>
          <p:cNvPr id="23" name="Image 3" descr="preencoded.png">    </p:cNvPr>
          <p:cNvPicPr>
            <a:picLocks noChangeAspect="1"/>
          </p:cNvPicPr>
          <p:nvPr/>
        </p:nvPicPr>
        <p:blipFill>
          <a:blip r:embed="rId5"/>
          <a:stretch>
            <a:fillRect/>
          </a:stretch>
        </p:blipFill>
        <p:spPr>
          <a:xfrm>
            <a:off x="8782812" y="4210812"/>
            <a:ext cx="283464" cy="283464"/>
          </a:xfrm>
          <a:prstGeom prst="rect">
            <a:avLst/>
          </a:prstGeom>
        </p:spPr>
      </p:pic>
      <p:sp>
        <p:nvSpPr>
          <p:cNvPr id="24" name="Text 16"/>
          <p:cNvSpPr txBox="1"/>
          <p:nvPr/>
        </p:nvSpPr>
        <p:spPr>
          <a:xfrm>
            <a:off x="8641080" y="4754880"/>
            <a:ext cx="2743200" cy="411480"/>
          </a:xfrm>
          <a:prstGeom prst="rect">
            <a:avLst/>
          </a:prstGeom>
          <a:noFill/>
          <a:ln/>
        </p:spPr>
        <p:txBody>
          <a:bodyPr wrap="square" lIns="0" tIns="0" rIns="0" bIns="0" rtlCol="0" anchor="t"/>
          <a:lstStyle/>
          <a:p>
            <a:pPr indent="0" marL="0">
              <a:buNone/>
            </a:pPr>
            <a:r>
              <a:rPr lang="en-US" sz="1600" b="1" dirty="0">
                <a:solidFill>
                  <a:srgbClr val="0E3B3A"/>
                </a:solidFill>
                <a:latin typeface="Calibri" pitchFamily="34" charset="0"/>
                <a:ea typeface="Calibri" pitchFamily="34" charset="-122"/>
                <a:cs typeface="Calibri" pitchFamily="34" charset="-120"/>
              </a:rPr>
              <a:t>Mã đặc biệt pdays = −1</a:t>
            </a:r>
            <a:endParaRPr lang="en-US" sz="1600" dirty="0"/>
          </a:p>
        </p:txBody>
      </p:sp>
      <p:sp>
        <p:nvSpPr>
          <p:cNvPr id="25" name="Text 17"/>
          <p:cNvSpPr txBox="1"/>
          <p:nvPr/>
        </p:nvSpPr>
        <p:spPr>
          <a:xfrm>
            <a:off x="8641080" y="5166360"/>
            <a:ext cx="274320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Nghĩa là 'chưa từng liên hệ', không phải một số đo</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Pipeline chống rò rỉ dữ liệu</a:t>
            </a:r>
            <a:endParaRPr lang="en-US" sz="3000" dirty="0"/>
          </a:p>
        </p:txBody>
      </p:sp>
      <p:sp>
        <p:nvSpPr>
          <p:cNvPr id="4" name="Shape 1"/>
          <p:cNvSpPr/>
          <p:nvPr/>
        </p:nvSpPr>
        <p:spPr>
          <a:xfrm>
            <a:off x="548640" y="1691640"/>
            <a:ext cx="1737360" cy="2011680"/>
          </a:xfrm>
          <a:prstGeom prst="roundRect">
            <a:avLst>
              <a:gd name="adj" fmla="val 4211"/>
            </a:avLst>
          </a:prstGeom>
          <a:solidFill>
            <a:srgbClr val="0E3B3A"/>
          </a:solidFill>
          <a:ln w="12700">
            <a:solidFill>
              <a:srgbClr val="0E3B3A"/>
            </a:solidFill>
            <a:prstDash val="solid"/>
          </a:ln>
        </p:spPr>
      </p:sp>
      <p:sp>
        <p:nvSpPr>
          <p:cNvPr id="5" name="Text 2"/>
          <p:cNvSpPr txBox="1"/>
          <p:nvPr/>
        </p:nvSpPr>
        <p:spPr>
          <a:xfrm>
            <a:off x="640080" y="1691640"/>
            <a:ext cx="1554480" cy="2011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bank.csv</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11,162 dòng</a:t>
            </a:r>
            <a:endParaRPr lang="en-US" sz="1400" dirty="0"/>
          </a:p>
        </p:txBody>
      </p:sp>
      <p:sp>
        <p:nvSpPr>
          <p:cNvPr id="6" name="Shape 3"/>
          <p:cNvSpPr/>
          <p:nvPr/>
        </p:nvSpPr>
        <p:spPr>
          <a:xfrm>
            <a:off x="2377440" y="2532888"/>
            <a:ext cx="411480" cy="329184"/>
          </a:xfrm>
          <a:prstGeom prst="rightArrow">
            <a:avLst/>
          </a:prstGeom>
          <a:solidFill>
            <a:srgbClr val="9CC3BD"/>
          </a:solidFill>
          <a:ln w="12700">
            <a:solidFill>
              <a:srgbClr val="9CC3BD"/>
            </a:solidFill>
            <a:prstDash val="solid"/>
          </a:ln>
        </p:spPr>
      </p:sp>
      <p:sp>
        <p:nvSpPr>
          <p:cNvPr id="7" name="Shape 4"/>
          <p:cNvSpPr/>
          <p:nvPr/>
        </p:nvSpPr>
        <p:spPr>
          <a:xfrm>
            <a:off x="2880360" y="1691640"/>
            <a:ext cx="1828800" cy="2011680"/>
          </a:xfrm>
          <a:prstGeom prst="roundRect">
            <a:avLst>
              <a:gd name="adj" fmla="val 4000"/>
            </a:avLst>
          </a:prstGeom>
          <a:solidFill>
            <a:srgbClr val="E0A526"/>
          </a:solidFill>
          <a:ln w="12700">
            <a:solidFill>
              <a:srgbClr val="E0A526"/>
            </a:solidFill>
            <a:prstDash val="solid"/>
          </a:ln>
        </p:spPr>
      </p:sp>
      <p:sp>
        <p:nvSpPr>
          <p:cNvPr id="8" name="Text 5"/>
          <p:cNvSpPr txBox="1"/>
          <p:nvPr/>
        </p:nvSpPr>
        <p:spPr>
          <a:xfrm>
            <a:off x="2926080" y="1691640"/>
            <a:ext cx="1737360" cy="2011680"/>
          </a:xfrm>
          <a:prstGeom prst="rect">
            <a:avLst/>
          </a:prstGeom>
          <a:noFill/>
          <a:ln/>
        </p:spPr>
        <p:txBody>
          <a:bodyPr wrap="square" lIns="0" tIns="0" rIns="0" bIns="0" rtlCol="0" anchor="ctr"/>
          <a:lstStyle/>
          <a:p>
            <a:pPr algn="ctr" indent="0" marL="0">
              <a:buNone/>
            </a:pPr>
            <a:r>
              <a:rPr lang="en-US" sz="1600" b="1" dirty="0">
                <a:solidFill>
                  <a:srgbClr val="1B2326"/>
                </a:solidFill>
                <a:latin typeface="Calibri" pitchFamily="34" charset="0"/>
                <a:ea typeface="Calibri" pitchFamily="34" charset="-122"/>
                <a:cs typeface="Calibri" pitchFamily="34" charset="-120"/>
              </a:rPr>
              <a:t>Chia 80/20</a:t>
            </a:r>
            <a:endParaRPr lang="en-US" sz="1400" dirty="0"/>
          </a:p>
          <a:p>
            <a:pPr algn="ctr" indent="0" marL="0">
              <a:buNone/>
            </a:pPr>
            <a:r>
              <a:rPr lang="en-US" sz="1300" dirty="0">
                <a:solidFill>
                  <a:srgbClr val="1B2326"/>
                </a:solidFill>
                <a:latin typeface="Calibri" pitchFamily="34" charset="0"/>
                <a:ea typeface="Calibri" pitchFamily="34" charset="-122"/>
                <a:cs typeface="Calibri" pitchFamily="34" charset="-120"/>
              </a:rPr>
              <a:t>stratify</a:t>
            </a:r>
            <a:endParaRPr lang="en-US" sz="1400" dirty="0"/>
          </a:p>
          <a:p>
            <a:pPr algn="ctr" indent="0" marL="0">
              <a:buNone/>
            </a:pPr>
            <a:r>
              <a:rPr lang="en-US" sz="1300" dirty="0">
                <a:solidFill>
                  <a:srgbClr val="1B2326"/>
                </a:solidFill>
                <a:latin typeface="Calibri" pitchFamily="34" charset="0"/>
                <a:ea typeface="Calibri" pitchFamily="34" charset="-122"/>
                <a:cs typeface="Calibri" pitchFamily="34" charset="-120"/>
              </a:rPr>
              <a:t>seed 42</a:t>
            </a:r>
            <a:endParaRPr lang="en-US" sz="1400" dirty="0"/>
          </a:p>
        </p:txBody>
      </p:sp>
      <p:sp>
        <p:nvSpPr>
          <p:cNvPr id="9" name="Shape 6"/>
          <p:cNvSpPr/>
          <p:nvPr/>
        </p:nvSpPr>
        <p:spPr>
          <a:xfrm>
            <a:off x="4773168" y="1965960"/>
            <a:ext cx="411480" cy="329184"/>
          </a:xfrm>
          <a:prstGeom prst="rightArrow">
            <a:avLst/>
          </a:prstGeom>
          <a:solidFill>
            <a:srgbClr val="0F6E68"/>
          </a:solidFill>
          <a:ln w="12700">
            <a:solidFill>
              <a:srgbClr val="0F6E68"/>
            </a:solidFill>
            <a:prstDash val="solid"/>
          </a:ln>
        </p:spPr>
      </p:sp>
      <p:sp>
        <p:nvSpPr>
          <p:cNvPr id="10" name="Shape 7"/>
          <p:cNvSpPr/>
          <p:nvPr/>
        </p:nvSpPr>
        <p:spPr>
          <a:xfrm>
            <a:off x="4773168" y="3264408"/>
            <a:ext cx="411480" cy="329184"/>
          </a:xfrm>
          <a:prstGeom prst="rightArrow">
            <a:avLst/>
          </a:prstGeom>
          <a:solidFill>
            <a:srgbClr val="5E7F9A"/>
          </a:solidFill>
          <a:ln w="12700">
            <a:solidFill>
              <a:srgbClr val="5E7F9A"/>
            </a:solidFill>
            <a:prstDash val="solid"/>
          </a:ln>
        </p:spPr>
      </p:sp>
      <p:sp>
        <p:nvSpPr>
          <p:cNvPr id="11" name="Text 8"/>
          <p:cNvSpPr txBox="1"/>
          <p:nvPr/>
        </p:nvSpPr>
        <p:spPr>
          <a:xfrm>
            <a:off x="5257800" y="1325880"/>
            <a:ext cx="6309360" cy="320040"/>
          </a:xfrm>
          <a:prstGeom prst="rect">
            <a:avLst/>
          </a:prstGeom>
          <a:noFill/>
          <a:ln/>
        </p:spPr>
        <p:txBody>
          <a:bodyPr wrap="square" lIns="0" tIns="0" rIns="0" bIns="0" rtlCol="0" anchor="t"/>
          <a:lstStyle/>
          <a:p>
            <a:pPr indent="0" marL="0">
              <a:buNone/>
            </a:pPr>
            <a:r>
              <a:rPr lang="en-US" sz="1300" b="1" dirty="0">
                <a:solidFill>
                  <a:srgbClr val="0F6E68"/>
                </a:solidFill>
                <a:latin typeface="Calibri" pitchFamily="34" charset="0"/>
                <a:ea typeface="Calibri" pitchFamily="34" charset="-122"/>
                <a:cs typeface="Calibri" pitchFamily="34" charset="-120"/>
              </a:rPr>
              <a:t>TRAIN · 8,929 mẫu · fit()</a:t>
            </a:r>
            <a:endParaRPr lang="en-US" sz="1300" dirty="0"/>
          </a:p>
        </p:txBody>
      </p:sp>
      <p:sp>
        <p:nvSpPr>
          <p:cNvPr id="12" name="Shape 9"/>
          <p:cNvSpPr/>
          <p:nvPr/>
        </p:nvSpPr>
        <p:spPr>
          <a:xfrm>
            <a:off x="5257800" y="1691640"/>
            <a:ext cx="822960" cy="868680"/>
          </a:xfrm>
          <a:prstGeom prst="roundRect">
            <a:avLst>
              <a:gd name="adj" fmla="val 6667"/>
            </a:avLst>
          </a:prstGeom>
          <a:solidFill>
            <a:srgbClr val="C2553D"/>
          </a:solidFill>
          <a:ln w="12700">
            <a:solidFill>
              <a:srgbClr val="C2553D"/>
            </a:solidFill>
            <a:prstDash val="solid"/>
          </a:ln>
        </p:spPr>
      </p:sp>
      <p:sp>
        <p:nvSpPr>
          <p:cNvPr id="13" name="Text 10"/>
          <p:cNvSpPr txBox="1"/>
          <p:nvPr/>
        </p:nvSpPr>
        <p:spPr>
          <a:xfrm>
            <a:off x="52578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Schema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Guard</a:t>
            </a:r>
            <a:endParaRPr lang="en-US" sz="1100" dirty="0"/>
          </a:p>
        </p:txBody>
      </p:sp>
      <p:sp>
        <p:nvSpPr>
          <p:cNvPr id="14" name="Shape 11"/>
          <p:cNvSpPr/>
          <p:nvPr/>
        </p:nvSpPr>
        <p:spPr>
          <a:xfrm>
            <a:off x="6172200" y="1691640"/>
            <a:ext cx="822960" cy="868680"/>
          </a:xfrm>
          <a:prstGeom prst="roundRect">
            <a:avLst>
              <a:gd name="adj" fmla="val 6667"/>
            </a:avLst>
          </a:prstGeom>
          <a:solidFill>
            <a:srgbClr val="0F6E68"/>
          </a:solidFill>
          <a:ln w="12700">
            <a:solidFill>
              <a:srgbClr val="0F6E68"/>
            </a:solidFill>
            <a:prstDash val="solid"/>
          </a:ln>
        </p:spPr>
      </p:sp>
      <p:sp>
        <p:nvSpPr>
          <p:cNvPr id="15" name="Text 12"/>
          <p:cNvSpPr txBox="1"/>
          <p:nvPr/>
        </p:nvSpPr>
        <p:spPr>
          <a:xfrm>
            <a:off x="61722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Cleaner</a:t>
            </a:r>
            <a:endParaRPr lang="en-US" sz="1100" dirty="0"/>
          </a:p>
        </p:txBody>
      </p:sp>
      <p:sp>
        <p:nvSpPr>
          <p:cNvPr id="16" name="Shape 13"/>
          <p:cNvSpPr/>
          <p:nvPr/>
        </p:nvSpPr>
        <p:spPr>
          <a:xfrm>
            <a:off x="7086600" y="1691640"/>
            <a:ext cx="822960" cy="868680"/>
          </a:xfrm>
          <a:prstGeom prst="roundRect">
            <a:avLst>
              <a:gd name="adj" fmla="val 6667"/>
            </a:avLst>
          </a:prstGeom>
          <a:solidFill>
            <a:srgbClr val="0F6E68"/>
          </a:solidFill>
          <a:ln w="12700">
            <a:solidFill>
              <a:srgbClr val="0F6E68"/>
            </a:solidFill>
            <a:prstDash val="solid"/>
          </a:ln>
        </p:spPr>
      </p:sp>
      <p:sp>
        <p:nvSpPr>
          <p:cNvPr id="17" name="Text 14"/>
          <p:cNvSpPr txBox="1"/>
          <p:nvPr/>
        </p:nvSpPr>
        <p:spPr>
          <a:xfrm>
            <a:off x="70866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Missing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Handler</a:t>
            </a:r>
            <a:endParaRPr lang="en-US" sz="1100" dirty="0"/>
          </a:p>
        </p:txBody>
      </p:sp>
      <p:sp>
        <p:nvSpPr>
          <p:cNvPr id="18" name="Shape 15"/>
          <p:cNvSpPr/>
          <p:nvPr/>
        </p:nvSpPr>
        <p:spPr>
          <a:xfrm>
            <a:off x="8001000" y="1691640"/>
            <a:ext cx="822960" cy="868680"/>
          </a:xfrm>
          <a:prstGeom prst="roundRect">
            <a:avLst>
              <a:gd name="adj" fmla="val 6667"/>
            </a:avLst>
          </a:prstGeom>
          <a:solidFill>
            <a:srgbClr val="0F6E68"/>
          </a:solidFill>
          <a:ln w="12700">
            <a:solidFill>
              <a:srgbClr val="0F6E68"/>
            </a:solidFill>
            <a:prstDash val="solid"/>
          </a:ln>
        </p:spPr>
      </p:sp>
      <p:sp>
        <p:nvSpPr>
          <p:cNvPr id="19" name="Text 16"/>
          <p:cNvSpPr txBox="1"/>
          <p:nvPr/>
        </p:nvSpPr>
        <p:spPr>
          <a:xfrm>
            <a:off x="80010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Outlier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Clipper</a:t>
            </a:r>
            <a:endParaRPr lang="en-US" sz="1100" dirty="0"/>
          </a:p>
        </p:txBody>
      </p:sp>
      <p:sp>
        <p:nvSpPr>
          <p:cNvPr id="20" name="Shape 17"/>
          <p:cNvSpPr/>
          <p:nvPr/>
        </p:nvSpPr>
        <p:spPr>
          <a:xfrm>
            <a:off x="8915400" y="1691640"/>
            <a:ext cx="822960" cy="868680"/>
          </a:xfrm>
          <a:prstGeom prst="roundRect">
            <a:avLst>
              <a:gd name="adj" fmla="val 6667"/>
            </a:avLst>
          </a:prstGeom>
          <a:solidFill>
            <a:srgbClr val="0F6E68"/>
          </a:solidFill>
          <a:ln w="12700">
            <a:solidFill>
              <a:srgbClr val="0F6E68"/>
            </a:solidFill>
            <a:prstDash val="solid"/>
          </a:ln>
        </p:spPr>
      </p:sp>
      <p:sp>
        <p:nvSpPr>
          <p:cNvPr id="21" name="Text 18"/>
          <p:cNvSpPr txBox="1"/>
          <p:nvPr/>
        </p:nvSpPr>
        <p:spPr>
          <a:xfrm>
            <a:off x="89154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Engineer</a:t>
            </a:r>
            <a:endParaRPr lang="en-US" sz="1100" dirty="0"/>
          </a:p>
        </p:txBody>
      </p:sp>
      <p:sp>
        <p:nvSpPr>
          <p:cNvPr id="22" name="Shape 19"/>
          <p:cNvSpPr/>
          <p:nvPr/>
        </p:nvSpPr>
        <p:spPr>
          <a:xfrm>
            <a:off x="9829800" y="1691640"/>
            <a:ext cx="822960" cy="868680"/>
          </a:xfrm>
          <a:prstGeom prst="roundRect">
            <a:avLst>
              <a:gd name="adj" fmla="val 6667"/>
            </a:avLst>
          </a:prstGeom>
          <a:solidFill>
            <a:srgbClr val="0F6E68"/>
          </a:solidFill>
          <a:ln w="12700">
            <a:solidFill>
              <a:srgbClr val="0F6E68"/>
            </a:solidFill>
            <a:prstDash val="solid"/>
          </a:ln>
        </p:spPr>
      </p:sp>
      <p:sp>
        <p:nvSpPr>
          <p:cNvPr id="23" name="Text 20"/>
          <p:cNvSpPr txBox="1"/>
          <p:nvPr/>
        </p:nvSpPr>
        <p:spPr>
          <a:xfrm>
            <a:off x="98298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Encode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&amp; Scale</a:t>
            </a:r>
            <a:endParaRPr lang="en-US" sz="1100" dirty="0"/>
          </a:p>
        </p:txBody>
      </p:sp>
      <p:sp>
        <p:nvSpPr>
          <p:cNvPr id="24" name="Shape 21"/>
          <p:cNvSpPr/>
          <p:nvPr/>
        </p:nvSpPr>
        <p:spPr>
          <a:xfrm>
            <a:off x="10744200" y="1691640"/>
            <a:ext cx="822960" cy="868680"/>
          </a:xfrm>
          <a:prstGeom prst="roundRect">
            <a:avLst>
              <a:gd name="adj" fmla="val 6667"/>
            </a:avLst>
          </a:prstGeom>
          <a:solidFill>
            <a:srgbClr val="0F6E68"/>
          </a:solidFill>
          <a:ln w="12700">
            <a:solidFill>
              <a:srgbClr val="0F6E68"/>
            </a:solidFill>
            <a:prstDash val="solid"/>
          </a:ln>
        </p:spPr>
      </p:sp>
      <p:sp>
        <p:nvSpPr>
          <p:cNvPr id="25" name="Text 22"/>
          <p:cNvSpPr txBox="1"/>
          <p:nvPr/>
        </p:nvSpPr>
        <p:spPr>
          <a:xfrm>
            <a:off x="10744200" y="1691640"/>
            <a:ext cx="8229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Top-32</a:t>
            </a:r>
            <a:endParaRPr lang="en-US" sz="1100" dirty="0"/>
          </a:p>
        </p:txBody>
      </p:sp>
      <p:sp>
        <p:nvSpPr>
          <p:cNvPr id="26" name="Text 23"/>
          <p:cNvSpPr txBox="1"/>
          <p:nvPr/>
        </p:nvSpPr>
        <p:spPr>
          <a:xfrm>
            <a:off x="5257800" y="2788920"/>
            <a:ext cx="6309360" cy="320040"/>
          </a:xfrm>
          <a:prstGeom prst="rect">
            <a:avLst/>
          </a:prstGeom>
          <a:noFill/>
          <a:ln/>
        </p:spPr>
        <p:txBody>
          <a:bodyPr wrap="square" lIns="0" tIns="0" rIns="0" bIns="0" rtlCol="0" anchor="t"/>
          <a:lstStyle/>
          <a:p>
            <a:pPr indent="0" marL="0">
              <a:buNone/>
            </a:pPr>
            <a:r>
              <a:rPr lang="en-US" sz="1300" b="1" dirty="0">
                <a:solidFill>
                  <a:srgbClr val="5E7F9A"/>
                </a:solidFill>
                <a:latin typeface="Calibri" pitchFamily="34" charset="0"/>
                <a:ea typeface="Calibri" pitchFamily="34" charset="-122"/>
                <a:cs typeface="Calibri" pitchFamily="34" charset="-120"/>
              </a:rPr>
              <a:t>TEST · 2,233 mẫu · chỉ transform()</a:t>
            </a:r>
            <a:endParaRPr lang="en-US" sz="1300" dirty="0"/>
          </a:p>
        </p:txBody>
      </p:sp>
      <p:sp>
        <p:nvSpPr>
          <p:cNvPr id="27" name="Shape 24"/>
          <p:cNvSpPr/>
          <p:nvPr/>
        </p:nvSpPr>
        <p:spPr>
          <a:xfrm>
            <a:off x="5257800" y="3154680"/>
            <a:ext cx="6309360" cy="548640"/>
          </a:xfrm>
          <a:prstGeom prst="roundRect">
            <a:avLst>
              <a:gd name="adj" fmla="val 10000"/>
            </a:avLst>
          </a:prstGeom>
          <a:solidFill>
            <a:srgbClr val="E3EAF0"/>
          </a:solidFill>
          <a:ln w="12700">
            <a:solidFill>
              <a:srgbClr val="5E7F9A"/>
            </a:solidFill>
            <a:prstDash val="dash"/>
          </a:ln>
        </p:spPr>
      </p:sp>
      <p:sp>
        <p:nvSpPr>
          <p:cNvPr id="28" name="Text 25"/>
          <p:cNvSpPr txBox="1"/>
          <p:nvPr/>
        </p:nvSpPr>
        <p:spPr>
          <a:xfrm>
            <a:off x="5394960" y="3154680"/>
            <a:ext cx="6035040" cy="548640"/>
          </a:xfrm>
          <a:prstGeom prst="rect">
            <a:avLst/>
          </a:prstGeom>
          <a:noFill/>
          <a:ln/>
        </p:spPr>
        <p:txBody>
          <a:bodyPr wrap="square" lIns="0" tIns="0" rIns="0" bIns="0" rtlCol="0" anchor="ctr"/>
          <a:lstStyle/>
          <a:p>
            <a:pPr algn="ctr" indent="0" marL="0">
              <a:buNone/>
            </a:pPr>
            <a:r>
              <a:rPr lang="en-US" sz="1300" dirty="0">
                <a:solidFill>
                  <a:srgbClr val="3E4A52"/>
                </a:solidFill>
                <a:latin typeface="Calibri" pitchFamily="34" charset="0"/>
                <a:ea typeface="Calibri" pitchFamily="34" charset="-122"/>
                <a:cs typeface="Calibri" pitchFamily="34" charset="-120"/>
              </a:rPr>
              <a:t>Dùng lại đúng tham số đã học từ Train — không fit lại bất kỳ bước nào</a:t>
            </a:r>
            <a:endParaRPr lang="en-US" sz="1300" dirty="0"/>
          </a:p>
        </p:txBody>
      </p:sp>
      <p:sp>
        <p:nvSpPr>
          <p:cNvPr id="29" name="Shape 26"/>
          <p:cNvSpPr/>
          <p:nvPr/>
        </p:nvSpPr>
        <p:spPr>
          <a:xfrm>
            <a:off x="548640" y="4206240"/>
            <a:ext cx="3520440" cy="1874520"/>
          </a:xfrm>
          <a:prstGeom prst="roundRect">
            <a:avLst>
              <a:gd name="adj" fmla="val 3902"/>
            </a:avLst>
          </a:prstGeom>
          <a:solidFill>
            <a:srgbClr val="EDF3F2"/>
          </a:solidFill>
          <a:ln w="12700">
            <a:solidFill>
              <a:srgbClr val="EDF3F2"/>
            </a:solidFill>
            <a:prstDash val="solid"/>
          </a:ln>
        </p:spPr>
      </p:sp>
      <p:sp>
        <p:nvSpPr>
          <p:cNvPr id="30" name="Shape 27"/>
          <p:cNvSpPr/>
          <p:nvPr/>
        </p:nvSpPr>
        <p:spPr>
          <a:xfrm>
            <a:off x="777240" y="4434840"/>
            <a:ext cx="566928" cy="566928"/>
          </a:xfrm>
          <a:prstGeom prst="ellipse">
            <a:avLst/>
          </a:prstGeom>
          <a:solidFill>
            <a:srgbClr val="0F6E68"/>
          </a:solidFill>
          <a:ln w="12700">
            <a:solidFill>
              <a:srgbClr val="0F6E68"/>
            </a:solidFill>
            <a:prstDash val="solid"/>
          </a:ln>
        </p:spPr>
      </p:sp>
      <p:pic>
        <p:nvPicPr>
          <p:cNvPr id="31" name="Image 0" descr="preencoded.png">    </p:cNvPr>
          <p:cNvPicPr>
            <a:picLocks noChangeAspect="1"/>
          </p:cNvPicPr>
          <p:nvPr/>
        </p:nvPicPr>
        <p:blipFill>
          <a:blip r:embed="rId1"/>
          <a:stretch>
            <a:fillRect/>
          </a:stretch>
        </p:blipFill>
        <p:spPr>
          <a:xfrm>
            <a:off x="918972" y="4576572"/>
            <a:ext cx="283464" cy="283464"/>
          </a:xfrm>
          <a:prstGeom prst="rect">
            <a:avLst/>
          </a:prstGeom>
        </p:spPr>
      </p:pic>
      <p:sp>
        <p:nvSpPr>
          <p:cNvPr id="32" name="Text 28"/>
          <p:cNvSpPr txBox="1"/>
          <p:nvPr/>
        </p:nvSpPr>
        <p:spPr>
          <a:xfrm>
            <a:off x="777240" y="5120640"/>
            <a:ext cx="310896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duration bị loại ngay bước 1</a:t>
            </a:r>
            <a:endParaRPr lang="en-US" sz="1500" dirty="0"/>
          </a:p>
        </p:txBody>
      </p:sp>
      <p:sp>
        <p:nvSpPr>
          <p:cNvPr id="33" name="Text 29"/>
          <p:cNvSpPr txBox="1"/>
          <p:nvPr/>
        </p:nvSpPr>
        <p:spPr>
          <a:xfrm>
            <a:off x="777240" y="5486400"/>
            <a:ext cx="3108960" cy="54864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Schema Guard xóa cột rò rỉ và từ chối mọi cột lạ</a:t>
            </a:r>
            <a:endParaRPr lang="en-US" sz="1300" dirty="0"/>
          </a:p>
        </p:txBody>
      </p:sp>
      <p:sp>
        <p:nvSpPr>
          <p:cNvPr id="34" name="Shape 30"/>
          <p:cNvSpPr/>
          <p:nvPr/>
        </p:nvSpPr>
        <p:spPr>
          <a:xfrm>
            <a:off x="4297680" y="4206240"/>
            <a:ext cx="3520440" cy="1874520"/>
          </a:xfrm>
          <a:prstGeom prst="roundRect">
            <a:avLst>
              <a:gd name="adj" fmla="val 3902"/>
            </a:avLst>
          </a:prstGeom>
          <a:solidFill>
            <a:srgbClr val="EDF3F2"/>
          </a:solidFill>
          <a:ln w="12700">
            <a:solidFill>
              <a:srgbClr val="EDF3F2"/>
            </a:solidFill>
            <a:prstDash val="solid"/>
          </a:ln>
        </p:spPr>
      </p:sp>
      <p:sp>
        <p:nvSpPr>
          <p:cNvPr id="35" name="Shape 31"/>
          <p:cNvSpPr/>
          <p:nvPr/>
        </p:nvSpPr>
        <p:spPr>
          <a:xfrm>
            <a:off x="4526280" y="4434840"/>
            <a:ext cx="566928" cy="566928"/>
          </a:xfrm>
          <a:prstGeom prst="ellipse">
            <a:avLst/>
          </a:prstGeom>
          <a:solidFill>
            <a:srgbClr val="0F6E68"/>
          </a:solidFill>
          <a:ln w="12700">
            <a:solidFill>
              <a:srgbClr val="0F6E68"/>
            </a:solidFill>
            <a:prstDash val="solid"/>
          </a:ln>
        </p:spPr>
      </p:sp>
      <p:pic>
        <p:nvPicPr>
          <p:cNvPr id="36" name="Image 1" descr="preencoded.png">    </p:cNvPr>
          <p:cNvPicPr>
            <a:picLocks noChangeAspect="1"/>
          </p:cNvPicPr>
          <p:nvPr/>
        </p:nvPicPr>
        <p:blipFill>
          <a:blip r:embed="rId2"/>
          <a:stretch>
            <a:fillRect/>
          </a:stretch>
        </p:blipFill>
        <p:spPr>
          <a:xfrm>
            <a:off x="4668012" y="4576572"/>
            <a:ext cx="283464" cy="283464"/>
          </a:xfrm>
          <a:prstGeom prst="rect">
            <a:avLst/>
          </a:prstGeom>
        </p:spPr>
      </p:pic>
      <p:sp>
        <p:nvSpPr>
          <p:cNvPr id="37" name="Text 32"/>
          <p:cNvSpPr txBox="1"/>
          <p:nvPr/>
        </p:nvSpPr>
        <p:spPr>
          <a:xfrm>
            <a:off x="4526280" y="5120640"/>
            <a:ext cx="310896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Mọi tham số học từ Train</a:t>
            </a:r>
            <a:endParaRPr lang="en-US" sz="1500" dirty="0"/>
          </a:p>
        </p:txBody>
      </p:sp>
      <p:sp>
        <p:nvSpPr>
          <p:cNvPr id="38" name="Text 33"/>
          <p:cNvSpPr txBox="1"/>
          <p:nvPr/>
        </p:nvSpPr>
        <p:spPr>
          <a:xfrm>
            <a:off x="4526280" y="5486400"/>
            <a:ext cx="3108960" cy="54864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Median, ngưỡng IQR, scaler, điểm Mutual Information</a:t>
            </a:r>
            <a:endParaRPr lang="en-US" sz="1300" dirty="0"/>
          </a:p>
        </p:txBody>
      </p:sp>
      <p:sp>
        <p:nvSpPr>
          <p:cNvPr id="39" name="Shape 34"/>
          <p:cNvSpPr/>
          <p:nvPr/>
        </p:nvSpPr>
        <p:spPr>
          <a:xfrm>
            <a:off x="8046720" y="4206240"/>
            <a:ext cx="3520440" cy="1874520"/>
          </a:xfrm>
          <a:prstGeom prst="roundRect">
            <a:avLst>
              <a:gd name="adj" fmla="val 3902"/>
            </a:avLst>
          </a:prstGeom>
          <a:solidFill>
            <a:srgbClr val="EDF3F2"/>
          </a:solidFill>
          <a:ln w="12700">
            <a:solidFill>
              <a:srgbClr val="EDF3F2"/>
            </a:solidFill>
            <a:prstDash val="solid"/>
          </a:ln>
        </p:spPr>
      </p:sp>
      <p:sp>
        <p:nvSpPr>
          <p:cNvPr id="40" name="Shape 35"/>
          <p:cNvSpPr/>
          <p:nvPr/>
        </p:nvSpPr>
        <p:spPr>
          <a:xfrm>
            <a:off x="8275320" y="4434840"/>
            <a:ext cx="566928" cy="566928"/>
          </a:xfrm>
          <a:prstGeom prst="ellipse">
            <a:avLst/>
          </a:prstGeom>
          <a:solidFill>
            <a:srgbClr val="0F6E68"/>
          </a:solidFill>
          <a:ln w="12700">
            <a:solidFill>
              <a:srgbClr val="0F6E68"/>
            </a:solidFill>
            <a:prstDash val="solid"/>
          </a:ln>
        </p:spPr>
      </p:sp>
      <p:pic>
        <p:nvPicPr>
          <p:cNvPr id="41" name="Image 2" descr="preencoded.png">    </p:cNvPr>
          <p:cNvPicPr>
            <a:picLocks noChangeAspect="1"/>
          </p:cNvPicPr>
          <p:nvPr/>
        </p:nvPicPr>
        <p:blipFill>
          <a:blip r:embed="rId3"/>
          <a:stretch>
            <a:fillRect/>
          </a:stretch>
        </p:blipFill>
        <p:spPr>
          <a:xfrm>
            <a:off x="8417052" y="4576572"/>
            <a:ext cx="283464" cy="283464"/>
          </a:xfrm>
          <a:prstGeom prst="rect">
            <a:avLst/>
          </a:prstGeom>
        </p:spPr>
      </p:pic>
      <p:sp>
        <p:nvSpPr>
          <p:cNvPr id="42" name="Text 36"/>
          <p:cNvSpPr txBox="1"/>
          <p:nvPr/>
        </p:nvSpPr>
        <p:spPr>
          <a:xfrm>
            <a:off x="8275320" y="5120640"/>
            <a:ext cx="310896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Đã kiểm chứng</a:t>
            </a:r>
            <a:endParaRPr lang="en-US" sz="1500" dirty="0"/>
          </a:p>
        </p:txBody>
      </p:sp>
      <p:sp>
        <p:nvSpPr>
          <p:cNvPr id="43" name="Text 37"/>
          <p:cNvSpPr txBox="1"/>
          <p:nvPr/>
        </p:nvSpPr>
        <p:spPr>
          <a:xfrm>
            <a:off x="8275320" y="5486400"/>
            <a:ext cx="3108960" cy="54864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transform(X_test thô) trùng khớp X_test.parquet đã lưu</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Biến đổi đặc trưng: 16 → 74 → 32 cột</a:t>
            </a:r>
            <a:endParaRPr lang="en-US" sz="3000" dirty="0"/>
          </a:p>
        </p:txBody>
      </p:sp>
      <p:graphicFrame>
        <p:nvGraphicFramePr>
          <p:cNvPr id="4" name="Chart 0" descr=""/>
          <p:cNvGraphicFramePr/>
          <p:nvPr/>
        </p:nvGraphicFramePr>
        <p:xfrm>
          <a:off x="548640" y="1371600"/>
          <a:ext cx="585216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766560" y="1417320"/>
            <a:ext cx="4846320" cy="411480"/>
          </a:xfrm>
          <a:prstGeom prst="rect">
            <a:avLst/>
          </a:prstGeom>
          <a:noFill/>
          <a:ln/>
        </p:spPr>
        <p:txBody>
          <a:bodyPr wrap="square" lIns="0" tIns="0" rIns="0" bIns="0" rtlCol="0" anchor="t"/>
          <a:lstStyle/>
          <a:p>
            <a:pPr indent="0" marL="0">
              <a:buNone/>
            </a:pPr>
            <a:r>
              <a:rPr lang="en-US" sz="1800" b="1" dirty="0">
                <a:solidFill>
                  <a:srgbClr val="0E3B3A"/>
                </a:solidFill>
                <a:latin typeface="Cambria" pitchFamily="34" charset="0"/>
                <a:ea typeface="Cambria" pitchFamily="34" charset="-122"/>
                <a:cs typeface="Cambria" pitchFamily="34" charset="-120"/>
              </a:rPr>
              <a:t>Đặc trưng mới tiêu biểu</a:t>
            </a:r>
            <a:endParaRPr lang="en-US" sz="1800" dirty="0"/>
          </a:p>
        </p:txBody>
      </p:sp>
      <p:sp>
        <p:nvSpPr>
          <p:cNvPr id="6" name="Shape 2"/>
          <p:cNvSpPr/>
          <p:nvPr/>
        </p:nvSpPr>
        <p:spPr>
          <a:xfrm>
            <a:off x="6766560" y="1920240"/>
            <a:ext cx="4846320" cy="566928"/>
          </a:xfrm>
          <a:prstGeom prst="roundRect">
            <a:avLst>
              <a:gd name="adj" fmla="val 12903"/>
            </a:avLst>
          </a:prstGeom>
          <a:solidFill>
            <a:srgbClr val="EDF3F2"/>
          </a:solidFill>
          <a:ln w="12700">
            <a:solidFill>
              <a:srgbClr val="EDF3F2"/>
            </a:solidFill>
            <a:prstDash val="solid"/>
          </a:ln>
        </p:spPr>
      </p:sp>
      <p:sp>
        <p:nvSpPr>
          <p:cNvPr id="7" name="Text 3"/>
          <p:cNvSpPr txBox="1"/>
          <p:nvPr/>
        </p:nvSpPr>
        <p:spPr>
          <a:xfrm>
            <a:off x="6903720" y="1956816"/>
            <a:ext cx="4617720" cy="512064"/>
          </a:xfrm>
          <a:prstGeom prst="rect">
            <a:avLst/>
          </a:prstGeom>
          <a:noFill/>
          <a:ln/>
        </p:spPr>
        <p:txBody>
          <a:bodyPr wrap="square" lIns="0" tIns="0" rIns="0" bIns="0" rtlCol="0" anchor="t"/>
          <a:lstStyle/>
          <a:p>
            <a:pPr indent="0" marL="0">
              <a:buNone/>
            </a:pPr>
            <a:r>
              <a:rPr lang="en-US" sz="1250" b="1" dirty="0">
                <a:solidFill>
                  <a:srgbClr val="0F6E68"/>
                </a:solidFill>
                <a:latin typeface="Calibri" pitchFamily="34" charset="0"/>
                <a:ea typeface="Calibri" pitchFamily="34" charset="-122"/>
                <a:cs typeface="Calibri" pitchFamily="34" charset="-120"/>
              </a:rPr>
              <a:t>age_squared</a:t>
            </a:r>
            <a:endParaRPr lang="en-US" sz="1250" dirty="0"/>
          </a:p>
          <a:p>
            <a:pPr indent="0" marL="0">
              <a:buNone/>
            </a:pPr>
            <a:r>
              <a:rPr lang="en-US" sz="1250" dirty="0">
                <a:solidFill>
                  <a:srgbClr val="3A4644"/>
                </a:solidFill>
                <a:latin typeface="Calibri" pitchFamily="34" charset="0"/>
                <a:ea typeface="Calibri" pitchFamily="34" charset="-122"/>
                <a:cs typeface="Calibri" pitchFamily="34" charset="-120"/>
              </a:rPr>
              <a:t>Quan hệ cong theo tuổi (trẻ &amp; già đăng ký nhiều)</a:t>
            </a:r>
            <a:endParaRPr lang="en-US" sz="1250" dirty="0"/>
          </a:p>
        </p:txBody>
      </p:sp>
      <p:sp>
        <p:nvSpPr>
          <p:cNvPr id="8" name="Shape 4"/>
          <p:cNvSpPr/>
          <p:nvPr/>
        </p:nvSpPr>
        <p:spPr>
          <a:xfrm>
            <a:off x="6766560" y="2578608"/>
            <a:ext cx="4846320" cy="566928"/>
          </a:xfrm>
          <a:prstGeom prst="roundRect">
            <a:avLst>
              <a:gd name="adj" fmla="val 12903"/>
            </a:avLst>
          </a:prstGeom>
          <a:solidFill>
            <a:srgbClr val="EDF3F2"/>
          </a:solidFill>
          <a:ln w="12700">
            <a:solidFill>
              <a:srgbClr val="EDF3F2"/>
            </a:solidFill>
            <a:prstDash val="solid"/>
          </a:ln>
        </p:spPr>
      </p:sp>
      <p:sp>
        <p:nvSpPr>
          <p:cNvPr id="9" name="Text 5"/>
          <p:cNvSpPr txBox="1"/>
          <p:nvPr/>
        </p:nvSpPr>
        <p:spPr>
          <a:xfrm>
            <a:off x="6903720" y="2615184"/>
            <a:ext cx="4617720" cy="512064"/>
          </a:xfrm>
          <a:prstGeom prst="rect">
            <a:avLst/>
          </a:prstGeom>
          <a:noFill/>
          <a:ln/>
        </p:spPr>
        <p:txBody>
          <a:bodyPr wrap="square" lIns="0" tIns="0" rIns="0" bIns="0" rtlCol="0" anchor="t"/>
          <a:lstStyle/>
          <a:p>
            <a:pPr indent="0" marL="0">
              <a:buNone/>
            </a:pPr>
            <a:r>
              <a:rPr lang="en-US" sz="1250" b="1" dirty="0">
                <a:solidFill>
                  <a:srgbClr val="0F6E68"/>
                </a:solidFill>
                <a:latin typeface="Calibri" pitchFamily="34" charset="0"/>
                <a:ea typeface="Calibri" pitchFamily="34" charset="-122"/>
                <a:cs typeface="Calibri" pitchFamily="34" charset="-120"/>
              </a:rPr>
              <a:t>balance_positive_log</a:t>
            </a:r>
            <a:endParaRPr lang="en-US" sz="1250" dirty="0"/>
          </a:p>
          <a:p>
            <a:pPr indent="0" marL="0">
              <a:buNone/>
            </a:pPr>
            <a:r>
              <a:rPr lang="en-US" sz="1250" dirty="0">
                <a:solidFill>
                  <a:srgbClr val="3A4644"/>
                </a:solidFill>
                <a:latin typeface="Calibri" pitchFamily="34" charset="0"/>
                <a:ea typeface="Calibri" pitchFamily="34" charset="-122"/>
                <a:cs typeface="Calibri" pitchFamily="34" charset="-120"/>
              </a:rPr>
              <a:t>Giảm đuôi phải của số dư</a:t>
            </a:r>
            <a:endParaRPr lang="en-US" sz="1250" dirty="0"/>
          </a:p>
        </p:txBody>
      </p:sp>
      <p:sp>
        <p:nvSpPr>
          <p:cNvPr id="10" name="Shape 6"/>
          <p:cNvSpPr/>
          <p:nvPr/>
        </p:nvSpPr>
        <p:spPr>
          <a:xfrm>
            <a:off x="6766560" y="3236976"/>
            <a:ext cx="4846320" cy="566928"/>
          </a:xfrm>
          <a:prstGeom prst="roundRect">
            <a:avLst>
              <a:gd name="adj" fmla="val 12903"/>
            </a:avLst>
          </a:prstGeom>
          <a:solidFill>
            <a:srgbClr val="EDF3F2"/>
          </a:solidFill>
          <a:ln w="12700">
            <a:solidFill>
              <a:srgbClr val="EDF3F2"/>
            </a:solidFill>
            <a:prstDash val="solid"/>
          </a:ln>
        </p:spPr>
      </p:sp>
      <p:sp>
        <p:nvSpPr>
          <p:cNvPr id="11" name="Text 7"/>
          <p:cNvSpPr txBox="1"/>
          <p:nvPr/>
        </p:nvSpPr>
        <p:spPr>
          <a:xfrm>
            <a:off x="6903720" y="3273552"/>
            <a:ext cx="4617720" cy="512064"/>
          </a:xfrm>
          <a:prstGeom prst="rect">
            <a:avLst/>
          </a:prstGeom>
          <a:noFill/>
          <a:ln/>
        </p:spPr>
        <p:txBody>
          <a:bodyPr wrap="square" lIns="0" tIns="0" rIns="0" bIns="0" rtlCol="0" anchor="t"/>
          <a:lstStyle/>
          <a:p>
            <a:pPr indent="0" marL="0">
              <a:buNone/>
            </a:pPr>
            <a:r>
              <a:rPr lang="en-US" sz="1250" b="1" dirty="0">
                <a:solidFill>
                  <a:srgbClr val="0F6E68"/>
                </a:solidFill>
                <a:latin typeface="Calibri" pitchFamily="34" charset="0"/>
                <a:ea typeface="Calibri" pitchFamily="34" charset="-122"/>
                <a:cs typeface="Calibri" pitchFamily="34" charset="-120"/>
              </a:rPr>
              <a:t>prior_contacted</a:t>
            </a:r>
            <a:endParaRPr lang="en-US" sz="1250" dirty="0"/>
          </a:p>
          <a:p>
            <a:pPr indent="0" marL="0">
              <a:buNone/>
            </a:pPr>
            <a:r>
              <a:rPr lang="en-US" sz="1250" dirty="0">
                <a:solidFill>
                  <a:srgbClr val="3A4644"/>
                </a:solidFill>
                <a:latin typeface="Calibri" pitchFamily="34" charset="0"/>
                <a:ea typeface="Calibri" pitchFamily="34" charset="-122"/>
                <a:cs typeface="Calibri" pitchFamily="34" charset="-120"/>
              </a:rPr>
              <a:t>Tách mã pdays = −1 thành cờ 0/1</a:t>
            </a:r>
            <a:endParaRPr lang="en-US" sz="1250" dirty="0"/>
          </a:p>
        </p:txBody>
      </p:sp>
      <p:sp>
        <p:nvSpPr>
          <p:cNvPr id="12" name="Shape 8"/>
          <p:cNvSpPr/>
          <p:nvPr/>
        </p:nvSpPr>
        <p:spPr>
          <a:xfrm>
            <a:off x="6766560" y="3895344"/>
            <a:ext cx="4846320" cy="566928"/>
          </a:xfrm>
          <a:prstGeom prst="roundRect">
            <a:avLst>
              <a:gd name="adj" fmla="val 12903"/>
            </a:avLst>
          </a:prstGeom>
          <a:solidFill>
            <a:srgbClr val="EDF3F2"/>
          </a:solidFill>
          <a:ln w="12700">
            <a:solidFill>
              <a:srgbClr val="EDF3F2"/>
            </a:solidFill>
            <a:prstDash val="solid"/>
          </a:ln>
        </p:spPr>
      </p:sp>
      <p:sp>
        <p:nvSpPr>
          <p:cNvPr id="13" name="Text 9"/>
          <p:cNvSpPr txBox="1"/>
          <p:nvPr/>
        </p:nvSpPr>
        <p:spPr>
          <a:xfrm>
            <a:off x="6903720" y="3931920"/>
            <a:ext cx="4617720" cy="512064"/>
          </a:xfrm>
          <a:prstGeom prst="rect">
            <a:avLst/>
          </a:prstGeom>
          <a:noFill/>
          <a:ln/>
        </p:spPr>
        <p:txBody>
          <a:bodyPr wrap="square" lIns="0" tIns="0" rIns="0" bIns="0" rtlCol="0" anchor="t"/>
          <a:lstStyle/>
          <a:p>
            <a:pPr indent="0" marL="0">
              <a:buNone/>
            </a:pPr>
            <a:r>
              <a:rPr lang="en-US" sz="1250" b="1" dirty="0">
                <a:solidFill>
                  <a:srgbClr val="0F6E68"/>
                </a:solidFill>
                <a:latin typeface="Calibri" pitchFamily="34" charset="0"/>
                <a:ea typeface="Calibri" pitchFamily="34" charset="-122"/>
                <a:cs typeface="Calibri" pitchFamily="34" charset="-120"/>
              </a:rPr>
              <a:t>contact_month_sin/cos</a:t>
            </a:r>
            <a:endParaRPr lang="en-US" sz="1250" dirty="0"/>
          </a:p>
          <a:p>
            <a:pPr indent="0" marL="0">
              <a:buNone/>
            </a:pPr>
            <a:r>
              <a:rPr lang="en-US" sz="1250" dirty="0">
                <a:solidFill>
                  <a:srgbClr val="3A4644"/>
                </a:solidFill>
                <a:latin typeface="Calibri" pitchFamily="34" charset="0"/>
                <a:ea typeface="Calibri" pitchFamily="34" charset="-122"/>
                <a:cs typeface="Calibri" pitchFamily="34" charset="-120"/>
              </a:rPr>
              <a:t>Biểu diễn tháng theo chu kỳ</a:t>
            </a:r>
            <a:endParaRPr lang="en-US" sz="1250" dirty="0"/>
          </a:p>
        </p:txBody>
      </p:sp>
      <p:sp>
        <p:nvSpPr>
          <p:cNvPr id="14" name="Text 10"/>
          <p:cNvSpPr txBox="1"/>
          <p:nvPr/>
        </p:nvSpPr>
        <p:spPr>
          <a:xfrm>
            <a:off x="6766560" y="4617720"/>
            <a:ext cx="4846320" cy="411480"/>
          </a:xfrm>
          <a:prstGeom prst="rect">
            <a:avLst/>
          </a:prstGeom>
          <a:noFill/>
          <a:ln/>
        </p:spPr>
        <p:txBody>
          <a:bodyPr wrap="square" lIns="0" tIns="0" rIns="0" bIns="0" rtlCol="0" anchor="t"/>
          <a:lstStyle/>
          <a:p>
            <a:pPr indent="0" marL="0">
              <a:buNone/>
            </a:pPr>
            <a:r>
              <a:rPr lang="en-US" sz="1800" b="1" dirty="0">
                <a:solidFill>
                  <a:srgbClr val="0E3B3A"/>
                </a:solidFill>
                <a:latin typeface="Cambria" pitchFamily="34" charset="0"/>
                <a:ea typeface="Cambria" pitchFamily="34" charset="-122"/>
                <a:cs typeface="Cambria" pitchFamily="34" charset="-120"/>
              </a:rPr>
              <a:t>Mã hóa &amp; chọn lọc</a:t>
            </a:r>
            <a:endParaRPr lang="en-US" sz="1800" dirty="0"/>
          </a:p>
        </p:txBody>
      </p:sp>
      <p:sp>
        <p:nvSpPr>
          <p:cNvPr id="15" name="Text 11"/>
          <p:cNvSpPr txBox="1"/>
          <p:nvPr/>
        </p:nvSpPr>
        <p:spPr>
          <a:xfrm>
            <a:off x="6766560" y="5029200"/>
            <a:ext cx="484632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326"/>
                </a:solidFill>
                <a:latin typeface="Calibri" pitchFamily="34" charset="0"/>
                <a:ea typeface="Calibri" pitchFamily="34" charset="-122"/>
                <a:cs typeface="Calibri" pitchFamily="34" charset="-120"/>
              </a:rPr>
              <a:t>One-Hot (danh nghĩa) · Ordinal (education)</a:t>
            </a:r>
            <a:endParaRPr lang="en-US" sz="1400" dirty="0"/>
          </a:p>
          <a:p>
            <a:pPr marL="342900" indent="-342900">
              <a:spcAft>
                <a:spcPts val="400"/>
              </a:spcAft>
              <a:buSzPct val="100000"/>
              <a:buChar char="•"/>
            </a:pPr>
            <a:r>
              <a:rPr lang="en-US" sz="1400" dirty="0">
                <a:solidFill>
                  <a:srgbClr val="1B2326"/>
                </a:solidFill>
                <a:latin typeface="Calibri" pitchFamily="34" charset="0"/>
                <a:ea typeface="Calibri" pitchFamily="34" charset="-122"/>
                <a:cs typeface="Calibri" pitchFamily="34" charset="-120"/>
              </a:rPr>
              <a:t>RobustScaler (biến lệch) · StandardScaler (age, day)</a:t>
            </a:r>
            <a:endParaRPr lang="en-US" sz="1400" dirty="0"/>
          </a:p>
          <a:p>
            <a:pPr marL="342900" indent="-342900">
              <a:spcAft>
                <a:spcPts val="400"/>
              </a:spcAft>
              <a:buSzPct val="100000"/>
              <a:buChar char="•"/>
            </a:pPr>
            <a:r>
              <a:rPr lang="en-US" sz="1400" dirty="0">
                <a:solidFill>
                  <a:srgbClr val="1B2326"/>
                </a:solidFill>
                <a:latin typeface="Calibri" pitchFamily="34" charset="0"/>
                <a:ea typeface="Calibri" pitchFamily="34" charset="-122"/>
                <a:cs typeface="Calibri" pitchFamily="34" charset="-120"/>
              </a:rPr>
              <a:t>Mutual Information Top-32, chỉ fit trên Train</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Ba họ mô hình và thiết lập Cross-Validation</a:t>
            </a:r>
            <a:endParaRPr lang="en-US" sz="3000" dirty="0"/>
          </a:p>
        </p:txBody>
      </p:sp>
      <p:sp>
        <p:nvSpPr>
          <p:cNvPr id="4" name="Shape 1"/>
          <p:cNvSpPr/>
          <p:nvPr/>
        </p:nvSpPr>
        <p:spPr>
          <a:xfrm>
            <a:off x="548640" y="1417320"/>
            <a:ext cx="3520440" cy="2697480"/>
          </a:xfrm>
          <a:prstGeom prst="roundRect">
            <a:avLst>
              <a:gd name="adj" fmla="val 2712"/>
            </a:avLst>
          </a:prstGeom>
          <a:solidFill>
            <a:srgbClr val="EDF3F2"/>
          </a:solidFill>
          <a:ln w="12700">
            <a:solidFill>
              <a:srgbClr val="EDF3F2"/>
            </a:solidFill>
            <a:prstDash val="solid"/>
          </a:ln>
        </p:spPr>
      </p:sp>
      <p:sp>
        <p:nvSpPr>
          <p:cNvPr id="5" name="Shape 2"/>
          <p:cNvSpPr/>
          <p:nvPr/>
        </p:nvSpPr>
        <p:spPr>
          <a:xfrm>
            <a:off x="777240" y="1645920"/>
            <a:ext cx="566928" cy="566928"/>
          </a:xfrm>
          <a:prstGeom prst="ellipse">
            <a:avLst/>
          </a:prstGeom>
          <a:solidFill>
            <a:srgbClr val="0F6E68"/>
          </a:solidFill>
          <a:ln w="12700">
            <a:solidFill>
              <a:srgbClr val="0F6E68"/>
            </a:solidFill>
            <a:prstDash val="solid"/>
          </a:ln>
        </p:spPr>
      </p:sp>
      <p:pic>
        <p:nvPicPr>
          <p:cNvPr id="6" name="Image 0" descr="preencoded.png">    </p:cNvPr>
          <p:cNvPicPr>
            <a:picLocks noChangeAspect="1"/>
          </p:cNvPicPr>
          <p:nvPr/>
        </p:nvPicPr>
        <p:blipFill>
          <a:blip r:embed="rId1"/>
          <a:stretch>
            <a:fillRect/>
          </a:stretch>
        </p:blipFill>
        <p:spPr>
          <a:xfrm>
            <a:off x="918972" y="1787652"/>
            <a:ext cx="283464" cy="283464"/>
          </a:xfrm>
          <a:prstGeom prst="rect">
            <a:avLst/>
          </a:prstGeom>
        </p:spPr>
      </p:pic>
      <p:sp>
        <p:nvSpPr>
          <p:cNvPr id="7" name="Text 3"/>
          <p:cNvSpPr txBox="1"/>
          <p:nvPr/>
        </p:nvSpPr>
        <p:spPr>
          <a:xfrm>
            <a:off x="1463040" y="1645920"/>
            <a:ext cx="2514600" cy="365760"/>
          </a:xfrm>
          <a:prstGeom prst="rect">
            <a:avLst/>
          </a:prstGeom>
          <a:noFill/>
          <a:ln/>
        </p:spPr>
        <p:txBody>
          <a:bodyPr wrap="square" lIns="0" tIns="0" rIns="0" bIns="0" rtlCol="0" anchor="t"/>
          <a:lstStyle/>
          <a:p>
            <a:pPr indent="0" marL="0">
              <a:buNone/>
            </a:pPr>
            <a:r>
              <a:rPr lang="en-US" sz="1700" b="1" dirty="0">
                <a:solidFill>
                  <a:srgbClr val="0E3B3A"/>
                </a:solidFill>
                <a:latin typeface="Calibri" pitchFamily="34" charset="0"/>
                <a:ea typeface="Calibri" pitchFamily="34" charset="-122"/>
                <a:cs typeface="Calibri" pitchFamily="34" charset="-120"/>
              </a:rPr>
              <a:t>Logistic Regression</a:t>
            </a:r>
            <a:endParaRPr lang="en-US" sz="1700" dirty="0"/>
          </a:p>
        </p:txBody>
      </p:sp>
      <p:sp>
        <p:nvSpPr>
          <p:cNvPr id="8" name="Text 4"/>
          <p:cNvSpPr txBox="1"/>
          <p:nvPr/>
        </p:nvSpPr>
        <p:spPr>
          <a:xfrm>
            <a:off x="1463040" y="1993392"/>
            <a:ext cx="2514600" cy="274320"/>
          </a:xfrm>
          <a:prstGeom prst="rect">
            <a:avLst/>
          </a:prstGeom>
          <a:noFill/>
          <a:ln/>
        </p:spPr>
        <p:txBody>
          <a:bodyPr wrap="square" lIns="0" tIns="0" rIns="0" bIns="0" rtlCol="0" anchor="t"/>
          <a:lstStyle/>
          <a:p>
            <a:pPr indent="0" marL="0">
              <a:buNone/>
            </a:pPr>
            <a:r>
              <a:rPr lang="en-US" sz="1250" dirty="0">
                <a:solidFill>
                  <a:srgbClr val="6B7B79"/>
                </a:solidFill>
                <a:latin typeface="Calibri" pitchFamily="34" charset="0"/>
                <a:ea typeface="Calibri" pitchFamily="34" charset="-122"/>
                <a:cs typeface="Calibri" pitchFamily="34" charset="-120"/>
              </a:rPr>
              <a:t>Họ tuyến tính</a:t>
            </a:r>
            <a:endParaRPr lang="en-US" sz="1250" dirty="0"/>
          </a:p>
        </p:txBody>
      </p:sp>
      <p:sp>
        <p:nvSpPr>
          <p:cNvPr id="9" name="Text 5"/>
          <p:cNvSpPr txBox="1"/>
          <p:nvPr/>
        </p:nvSpPr>
        <p:spPr>
          <a:xfrm>
            <a:off x="777240" y="2468880"/>
            <a:ext cx="3108960" cy="640080"/>
          </a:xfrm>
          <a:prstGeom prst="rect">
            <a:avLst/>
          </a:prstGeom>
          <a:noFill/>
          <a:ln/>
        </p:spPr>
        <p:txBody>
          <a:bodyPr wrap="square" lIns="0" tIns="0" rIns="0" bIns="0" rtlCol="0" anchor="t"/>
          <a:lstStyle/>
          <a:p>
            <a:pPr indent="0" marL="0">
              <a:buNone/>
            </a:pPr>
            <a:r>
              <a:rPr lang="en-US" sz="1350" dirty="0">
                <a:solidFill>
                  <a:srgbClr val="3A4644"/>
                </a:solidFill>
                <a:latin typeface="Calibri" pitchFamily="34" charset="0"/>
                <a:ea typeface="Calibri" pitchFamily="34" charset="-122"/>
                <a:cs typeface="Calibri" pitchFamily="34" charset="-120"/>
              </a:rPr>
              <a:t>C = 10 · penalty L1</a:t>
            </a:r>
            <a:endParaRPr lang="en-US" sz="1350" dirty="0"/>
          </a:p>
        </p:txBody>
      </p:sp>
      <p:sp>
        <p:nvSpPr>
          <p:cNvPr id="10" name="Text 6"/>
          <p:cNvSpPr txBox="1"/>
          <p:nvPr/>
        </p:nvSpPr>
        <p:spPr>
          <a:xfrm>
            <a:off x="777240" y="3108960"/>
            <a:ext cx="3108960" cy="914400"/>
          </a:xfrm>
          <a:prstGeom prst="rect">
            <a:avLst/>
          </a:prstGeom>
          <a:noFill/>
          <a:ln/>
        </p:spPr>
        <p:txBody>
          <a:bodyPr wrap="square" lIns="0" tIns="0" rIns="0" bIns="0" rtlCol="0" anchor="t"/>
          <a:lstStyle/>
          <a:p>
            <a:pPr indent="0" marL="0">
              <a:buNone/>
            </a:pPr>
            <a:r>
              <a:rPr lang="en-US" sz="3000" b="1" dirty="0">
                <a:solidFill>
                  <a:srgbClr val="0F6E68"/>
                </a:solidFill>
                <a:latin typeface="Cambria" pitchFamily="34" charset="0"/>
                <a:ea typeface="Cambria" pitchFamily="34" charset="-122"/>
                <a:cs typeface="Cambria" pitchFamily="34" charset="-120"/>
              </a:rPr>
              <a:t>0.6960</a:t>
            </a:r>
            <a:endParaRPr lang="en-US" sz="1400" dirty="0"/>
          </a:p>
          <a:p>
            <a:pPr indent="0" marL="0">
              <a:buNone/>
            </a:pPr>
            <a:r>
              <a:rPr lang="en-US" sz="1200" dirty="0">
                <a:solidFill>
                  <a:srgbClr val="6B7B79"/>
                </a:solidFill>
                <a:latin typeface="Calibri" pitchFamily="34" charset="0"/>
                <a:ea typeface="Calibri" pitchFamily="34" charset="-122"/>
                <a:cs typeface="Calibri" pitchFamily="34" charset="-120"/>
              </a:rPr>
              <a:t>F1-macro CV (5 fold)</a:t>
            </a:r>
            <a:endParaRPr lang="en-US" sz="1400" dirty="0"/>
          </a:p>
        </p:txBody>
      </p:sp>
      <p:sp>
        <p:nvSpPr>
          <p:cNvPr id="11" name="Shape 7"/>
          <p:cNvSpPr/>
          <p:nvPr/>
        </p:nvSpPr>
        <p:spPr>
          <a:xfrm>
            <a:off x="4297680" y="1417320"/>
            <a:ext cx="3520440" cy="2697480"/>
          </a:xfrm>
          <a:prstGeom prst="roundRect">
            <a:avLst>
              <a:gd name="adj" fmla="val 2712"/>
            </a:avLst>
          </a:prstGeom>
          <a:solidFill>
            <a:srgbClr val="EDF3F2"/>
          </a:solidFill>
          <a:ln w="12700">
            <a:solidFill>
              <a:srgbClr val="EDF3F2"/>
            </a:solidFill>
            <a:prstDash val="solid"/>
          </a:ln>
        </p:spPr>
      </p:sp>
      <p:sp>
        <p:nvSpPr>
          <p:cNvPr id="12" name="Shape 8"/>
          <p:cNvSpPr/>
          <p:nvPr/>
        </p:nvSpPr>
        <p:spPr>
          <a:xfrm>
            <a:off x="4526280" y="1645920"/>
            <a:ext cx="566928" cy="566928"/>
          </a:xfrm>
          <a:prstGeom prst="ellipse">
            <a:avLst/>
          </a:prstGeom>
          <a:solidFill>
            <a:srgbClr val="E0A526"/>
          </a:solidFill>
          <a:ln w="12700">
            <a:solidFill>
              <a:srgbClr val="E0A526"/>
            </a:solidFill>
            <a:prstDash val="solid"/>
          </a:ln>
        </p:spPr>
      </p:sp>
      <p:pic>
        <p:nvPicPr>
          <p:cNvPr id="13" name="Image 1" descr="preencoded.png">    </p:cNvPr>
          <p:cNvPicPr>
            <a:picLocks noChangeAspect="1"/>
          </p:cNvPicPr>
          <p:nvPr/>
        </p:nvPicPr>
        <p:blipFill>
          <a:blip r:embed="rId2"/>
          <a:stretch>
            <a:fillRect/>
          </a:stretch>
        </p:blipFill>
        <p:spPr>
          <a:xfrm>
            <a:off x="4668012" y="1787652"/>
            <a:ext cx="283464" cy="283464"/>
          </a:xfrm>
          <a:prstGeom prst="rect">
            <a:avLst/>
          </a:prstGeom>
        </p:spPr>
      </p:pic>
      <p:sp>
        <p:nvSpPr>
          <p:cNvPr id="14" name="Text 9"/>
          <p:cNvSpPr txBox="1"/>
          <p:nvPr/>
        </p:nvSpPr>
        <p:spPr>
          <a:xfrm>
            <a:off x="5212080" y="1645920"/>
            <a:ext cx="2514600" cy="365760"/>
          </a:xfrm>
          <a:prstGeom prst="rect">
            <a:avLst/>
          </a:prstGeom>
          <a:noFill/>
          <a:ln/>
        </p:spPr>
        <p:txBody>
          <a:bodyPr wrap="square" lIns="0" tIns="0" rIns="0" bIns="0" rtlCol="0" anchor="t"/>
          <a:lstStyle/>
          <a:p>
            <a:pPr indent="0" marL="0">
              <a:buNone/>
            </a:pPr>
            <a:r>
              <a:rPr lang="en-US" sz="1700" b="1" dirty="0">
                <a:solidFill>
                  <a:srgbClr val="0E3B3A"/>
                </a:solidFill>
                <a:latin typeface="Calibri" pitchFamily="34" charset="0"/>
                <a:ea typeface="Calibri" pitchFamily="34" charset="-122"/>
                <a:cs typeface="Calibri" pitchFamily="34" charset="-120"/>
              </a:rPr>
              <a:t>Random Forest</a:t>
            </a:r>
            <a:endParaRPr lang="en-US" sz="1700" dirty="0"/>
          </a:p>
        </p:txBody>
      </p:sp>
      <p:sp>
        <p:nvSpPr>
          <p:cNvPr id="15" name="Text 10"/>
          <p:cNvSpPr txBox="1"/>
          <p:nvPr/>
        </p:nvSpPr>
        <p:spPr>
          <a:xfrm>
            <a:off x="5212080" y="1993392"/>
            <a:ext cx="2514600" cy="274320"/>
          </a:xfrm>
          <a:prstGeom prst="rect">
            <a:avLst/>
          </a:prstGeom>
          <a:noFill/>
          <a:ln/>
        </p:spPr>
        <p:txBody>
          <a:bodyPr wrap="square" lIns="0" tIns="0" rIns="0" bIns="0" rtlCol="0" anchor="t"/>
          <a:lstStyle/>
          <a:p>
            <a:pPr indent="0" marL="0">
              <a:buNone/>
            </a:pPr>
            <a:r>
              <a:rPr lang="en-US" sz="1250" dirty="0">
                <a:solidFill>
                  <a:srgbClr val="6B7B79"/>
                </a:solidFill>
                <a:latin typeface="Calibri" pitchFamily="34" charset="0"/>
                <a:ea typeface="Calibri" pitchFamily="34" charset="-122"/>
                <a:cs typeface="Calibri" pitchFamily="34" charset="-120"/>
              </a:rPr>
              <a:t>Họ cây / Ensemble</a:t>
            </a:r>
            <a:endParaRPr lang="en-US" sz="1250" dirty="0"/>
          </a:p>
        </p:txBody>
      </p:sp>
      <p:sp>
        <p:nvSpPr>
          <p:cNvPr id="16" name="Text 11"/>
          <p:cNvSpPr txBox="1"/>
          <p:nvPr/>
        </p:nvSpPr>
        <p:spPr>
          <a:xfrm>
            <a:off x="4526280" y="2468880"/>
            <a:ext cx="3108960" cy="640080"/>
          </a:xfrm>
          <a:prstGeom prst="rect">
            <a:avLst/>
          </a:prstGeom>
          <a:noFill/>
          <a:ln/>
        </p:spPr>
        <p:txBody>
          <a:bodyPr wrap="square" lIns="0" tIns="0" rIns="0" bIns="0" rtlCol="0" anchor="t"/>
          <a:lstStyle/>
          <a:p>
            <a:pPr indent="0" marL="0">
              <a:buNone/>
            </a:pPr>
            <a:r>
              <a:rPr lang="en-US" sz="1350" dirty="0">
                <a:solidFill>
                  <a:srgbClr val="3A4644"/>
                </a:solidFill>
                <a:latin typeface="Calibri" pitchFamily="34" charset="0"/>
                <a:ea typeface="Calibri" pitchFamily="34" charset="-122"/>
                <a:cs typeface="Calibri" pitchFamily="34" charset="-120"/>
              </a:rPr>
              <a:t>300 cây · max_depth 20</a:t>
            </a:r>
            <a:endParaRPr lang="en-US" sz="1350" dirty="0"/>
          </a:p>
          <a:p>
            <a:pPr indent="0" marL="0">
              <a:buNone/>
            </a:pPr>
            <a:r>
              <a:rPr lang="en-US" sz="1350" dirty="0">
                <a:solidFill>
                  <a:srgbClr val="3A4644"/>
                </a:solidFill>
                <a:latin typeface="Calibri" pitchFamily="34" charset="0"/>
                <a:ea typeface="Calibri" pitchFamily="34" charset="-122"/>
                <a:cs typeface="Calibri" pitchFamily="34" charset="-120"/>
              </a:rPr>
              <a:t>min_samples_split 10</a:t>
            </a:r>
            <a:endParaRPr lang="en-US" sz="1350" dirty="0"/>
          </a:p>
        </p:txBody>
      </p:sp>
      <p:sp>
        <p:nvSpPr>
          <p:cNvPr id="17" name="Text 12"/>
          <p:cNvSpPr txBox="1"/>
          <p:nvPr/>
        </p:nvSpPr>
        <p:spPr>
          <a:xfrm>
            <a:off x="4526280" y="3108960"/>
            <a:ext cx="3108960" cy="914400"/>
          </a:xfrm>
          <a:prstGeom prst="rect">
            <a:avLst/>
          </a:prstGeom>
          <a:noFill/>
          <a:ln/>
        </p:spPr>
        <p:txBody>
          <a:bodyPr wrap="square" lIns="0" tIns="0" rIns="0" bIns="0" rtlCol="0" anchor="t"/>
          <a:lstStyle/>
          <a:p>
            <a:pPr indent="0" marL="0">
              <a:buNone/>
            </a:pPr>
            <a:r>
              <a:rPr lang="en-US" sz="3000" b="1" dirty="0">
                <a:solidFill>
                  <a:srgbClr val="8A6A12"/>
                </a:solidFill>
                <a:latin typeface="Cambria" pitchFamily="34" charset="0"/>
                <a:ea typeface="Cambria" pitchFamily="34" charset="-122"/>
                <a:cs typeface="Cambria" pitchFamily="34" charset="-120"/>
              </a:rPr>
              <a:t>0.7233</a:t>
            </a:r>
            <a:endParaRPr lang="en-US" sz="1400" dirty="0"/>
          </a:p>
          <a:p>
            <a:pPr indent="0" marL="0">
              <a:buNone/>
            </a:pPr>
            <a:r>
              <a:rPr lang="en-US" sz="1200" dirty="0">
                <a:solidFill>
                  <a:srgbClr val="6B7B79"/>
                </a:solidFill>
                <a:latin typeface="Calibri" pitchFamily="34" charset="0"/>
                <a:ea typeface="Calibri" pitchFamily="34" charset="-122"/>
                <a:cs typeface="Calibri" pitchFamily="34" charset="-120"/>
              </a:rPr>
              <a:t>F1-macro CV (5 fold)</a:t>
            </a:r>
            <a:endParaRPr lang="en-US" sz="1400" dirty="0"/>
          </a:p>
        </p:txBody>
      </p:sp>
      <p:sp>
        <p:nvSpPr>
          <p:cNvPr id="18" name="Shape 13"/>
          <p:cNvSpPr/>
          <p:nvPr/>
        </p:nvSpPr>
        <p:spPr>
          <a:xfrm>
            <a:off x="8046720" y="1417320"/>
            <a:ext cx="3520440" cy="2697480"/>
          </a:xfrm>
          <a:prstGeom prst="roundRect">
            <a:avLst>
              <a:gd name="adj" fmla="val 2712"/>
            </a:avLst>
          </a:prstGeom>
          <a:solidFill>
            <a:srgbClr val="EDF3F2"/>
          </a:solidFill>
          <a:ln w="12700">
            <a:solidFill>
              <a:srgbClr val="EDF3F2"/>
            </a:solidFill>
            <a:prstDash val="solid"/>
          </a:ln>
        </p:spPr>
      </p:sp>
      <p:sp>
        <p:nvSpPr>
          <p:cNvPr id="19" name="Shape 14"/>
          <p:cNvSpPr/>
          <p:nvPr/>
        </p:nvSpPr>
        <p:spPr>
          <a:xfrm>
            <a:off x="8275320" y="1645920"/>
            <a:ext cx="566928" cy="566928"/>
          </a:xfrm>
          <a:prstGeom prst="ellipse">
            <a:avLst/>
          </a:prstGeom>
          <a:solidFill>
            <a:srgbClr val="5E7F9A"/>
          </a:solidFill>
          <a:ln w="12700">
            <a:solidFill>
              <a:srgbClr val="5E7F9A"/>
            </a:solidFill>
            <a:prstDash val="solid"/>
          </a:ln>
        </p:spPr>
      </p:sp>
      <p:pic>
        <p:nvPicPr>
          <p:cNvPr id="20" name="Image 2" descr="preencoded.png">    </p:cNvPr>
          <p:cNvPicPr>
            <a:picLocks noChangeAspect="1"/>
          </p:cNvPicPr>
          <p:nvPr/>
        </p:nvPicPr>
        <p:blipFill>
          <a:blip r:embed="rId3"/>
          <a:stretch>
            <a:fillRect/>
          </a:stretch>
        </p:blipFill>
        <p:spPr>
          <a:xfrm>
            <a:off x="8417052" y="1787652"/>
            <a:ext cx="283464" cy="283464"/>
          </a:xfrm>
          <a:prstGeom prst="rect">
            <a:avLst/>
          </a:prstGeom>
        </p:spPr>
      </p:pic>
      <p:sp>
        <p:nvSpPr>
          <p:cNvPr id="21" name="Text 15"/>
          <p:cNvSpPr txBox="1"/>
          <p:nvPr/>
        </p:nvSpPr>
        <p:spPr>
          <a:xfrm>
            <a:off x="8961120" y="1645920"/>
            <a:ext cx="2514600" cy="365760"/>
          </a:xfrm>
          <a:prstGeom prst="rect">
            <a:avLst/>
          </a:prstGeom>
          <a:noFill/>
          <a:ln/>
        </p:spPr>
        <p:txBody>
          <a:bodyPr wrap="square" lIns="0" tIns="0" rIns="0" bIns="0" rtlCol="0" anchor="t"/>
          <a:lstStyle/>
          <a:p>
            <a:pPr indent="0" marL="0">
              <a:buNone/>
            </a:pPr>
            <a:r>
              <a:rPr lang="en-US" sz="1700" b="1" dirty="0">
                <a:solidFill>
                  <a:srgbClr val="0E3B3A"/>
                </a:solidFill>
                <a:latin typeface="Calibri" pitchFamily="34" charset="0"/>
                <a:ea typeface="Calibri" pitchFamily="34" charset="-122"/>
                <a:cs typeface="Calibri" pitchFamily="34" charset="-120"/>
              </a:rPr>
              <a:t>SVC (kernel RBF)</a:t>
            </a:r>
            <a:endParaRPr lang="en-US" sz="1700" dirty="0"/>
          </a:p>
        </p:txBody>
      </p:sp>
      <p:sp>
        <p:nvSpPr>
          <p:cNvPr id="22" name="Text 16"/>
          <p:cNvSpPr txBox="1"/>
          <p:nvPr/>
        </p:nvSpPr>
        <p:spPr>
          <a:xfrm>
            <a:off x="8961120" y="1993392"/>
            <a:ext cx="2514600" cy="274320"/>
          </a:xfrm>
          <a:prstGeom prst="rect">
            <a:avLst/>
          </a:prstGeom>
          <a:noFill/>
          <a:ln/>
        </p:spPr>
        <p:txBody>
          <a:bodyPr wrap="square" lIns="0" tIns="0" rIns="0" bIns="0" rtlCol="0" anchor="t"/>
          <a:lstStyle/>
          <a:p>
            <a:pPr indent="0" marL="0">
              <a:buNone/>
            </a:pPr>
            <a:r>
              <a:rPr lang="en-US" sz="1250" dirty="0">
                <a:solidFill>
                  <a:srgbClr val="6B7B79"/>
                </a:solidFill>
                <a:latin typeface="Calibri" pitchFamily="34" charset="0"/>
                <a:ea typeface="Calibri" pitchFamily="34" charset="-122"/>
                <a:cs typeface="Calibri" pitchFamily="34" charset="-120"/>
              </a:rPr>
              <a:t>Họ phi tuyến (kernel)</a:t>
            </a:r>
            <a:endParaRPr lang="en-US" sz="1250" dirty="0"/>
          </a:p>
        </p:txBody>
      </p:sp>
      <p:sp>
        <p:nvSpPr>
          <p:cNvPr id="23" name="Text 17"/>
          <p:cNvSpPr txBox="1"/>
          <p:nvPr/>
        </p:nvSpPr>
        <p:spPr>
          <a:xfrm>
            <a:off x="8275320" y="2468880"/>
            <a:ext cx="3108960" cy="640080"/>
          </a:xfrm>
          <a:prstGeom prst="rect">
            <a:avLst/>
          </a:prstGeom>
          <a:noFill/>
          <a:ln/>
        </p:spPr>
        <p:txBody>
          <a:bodyPr wrap="square" lIns="0" tIns="0" rIns="0" bIns="0" rtlCol="0" anchor="t"/>
          <a:lstStyle/>
          <a:p>
            <a:pPr indent="0" marL="0">
              <a:buNone/>
            </a:pPr>
            <a:r>
              <a:rPr lang="en-US" sz="1350" dirty="0">
                <a:solidFill>
                  <a:srgbClr val="3A4644"/>
                </a:solidFill>
                <a:latin typeface="Calibri" pitchFamily="34" charset="0"/>
                <a:ea typeface="Calibri" pitchFamily="34" charset="-122"/>
                <a:cs typeface="Calibri" pitchFamily="34" charset="-120"/>
              </a:rPr>
              <a:t>C = 100 · γ = 0.01</a:t>
            </a:r>
            <a:endParaRPr lang="en-US" sz="1350" dirty="0"/>
          </a:p>
        </p:txBody>
      </p:sp>
      <p:sp>
        <p:nvSpPr>
          <p:cNvPr id="24" name="Text 18"/>
          <p:cNvSpPr txBox="1"/>
          <p:nvPr/>
        </p:nvSpPr>
        <p:spPr>
          <a:xfrm>
            <a:off x="8275320" y="3108960"/>
            <a:ext cx="3108960" cy="914400"/>
          </a:xfrm>
          <a:prstGeom prst="rect">
            <a:avLst/>
          </a:prstGeom>
          <a:noFill/>
          <a:ln/>
        </p:spPr>
        <p:txBody>
          <a:bodyPr wrap="square" lIns="0" tIns="0" rIns="0" bIns="0" rtlCol="0" anchor="t"/>
          <a:lstStyle/>
          <a:p>
            <a:pPr indent="0" marL="0">
              <a:buNone/>
            </a:pPr>
            <a:r>
              <a:rPr lang="en-US" sz="3000" b="1" dirty="0">
                <a:solidFill>
                  <a:srgbClr val="5E7F9A"/>
                </a:solidFill>
                <a:latin typeface="Cambria" pitchFamily="34" charset="0"/>
                <a:ea typeface="Cambria" pitchFamily="34" charset="-122"/>
                <a:cs typeface="Cambria" pitchFamily="34" charset="-120"/>
              </a:rPr>
              <a:t>0.7178</a:t>
            </a:r>
            <a:endParaRPr lang="en-US" sz="1400" dirty="0"/>
          </a:p>
          <a:p>
            <a:pPr indent="0" marL="0">
              <a:buNone/>
            </a:pPr>
            <a:r>
              <a:rPr lang="en-US" sz="1200" dirty="0">
                <a:solidFill>
                  <a:srgbClr val="6B7B79"/>
                </a:solidFill>
                <a:latin typeface="Calibri" pitchFamily="34" charset="0"/>
                <a:ea typeface="Calibri" pitchFamily="34" charset="-122"/>
                <a:cs typeface="Calibri" pitchFamily="34" charset="-120"/>
              </a:rPr>
              <a:t>F1-macro CV (5 fold)</a:t>
            </a:r>
            <a:endParaRPr lang="en-US" sz="1400" dirty="0"/>
          </a:p>
        </p:txBody>
      </p:sp>
      <p:sp>
        <p:nvSpPr>
          <p:cNvPr id="25" name="Text 19"/>
          <p:cNvSpPr txBox="1"/>
          <p:nvPr/>
        </p:nvSpPr>
        <p:spPr>
          <a:xfrm>
            <a:off x="548640" y="4343400"/>
            <a:ext cx="640080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StratifiedKFold(5) — mỗi fold lần lượt làm tập validation</a:t>
            </a:r>
            <a:endParaRPr lang="en-US" sz="1500" dirty="0"/>
          </a:p>
        </p:txBody>
      </p:sp>
      <p:sp>
        <p:nvSpPr>
          <p:cNvPr id="26" name="Shape 20"/>
          <p:cNvSpPr/>
          <p:nvPr/>
        </p:nvSpPr>
        <p:spPr>
          <a:xfrm>
            <a:off x="548640" y="4800600"/>
            <a:ext cx="1188720" cy="210312"/>
          </a:xfrm>
          <a:prstGeom prst="rect">
            <a:avLst/>
          </a:prstGeom>
          <a:solidFill>
            <a:srgbClr val="E0A526"/>
          </a:solidFill>
          <a:ln w="6350">
            <a:solidFill>
              <a:srgbClr val="FFFFFF"/>
            </a:solidFill>
            <a:prstDash val="solid"/>
          </a:ln>
        </p:spPr>
      </p:sp>
      <p:sp>
        <p:nvSpPr>
          <p:cNvPr id="27" name="Shape 21"/>
          <p:cNvSpPr/>
          <p:nvPr/>
        </p:nvSpPr>
        <p:spPr>
          <a:xfrm>
            <a:off x="1792224" y="4800600"/>
            <a:ext cx="1188720" cy="210312"/>
          </a:xfrm>
          <a:prstGeom prst="rect">
            <a:avLst/>
          </a:prstGeom>
          <a:solidFill>
            <a:srgbClr val="9CC3BD"/>
          </a:solidFill>
          <a:ln w="6350">
            <a:solidFill>
              <a:srgbClr val="FFFFFF"/>
            </a:solidFill>
            <a:prstDash val="solid"/>
          </a:ln>
        </p:spPr>
      </p:sp>
      <p:sp>
        <p:nvSpPr>
          <p:cNvPr id="28" name="Shape 22"/>
          <p:cNvSpPr/>
          <p:nvPr/>
        </p:nvSpPr>
        <p:spPr>
          <a:xfrm>
            <a:off x="3035808" y="4800600"/>
            <a:ext cx="1188720" cy="210312"/>
          </a:xfrm>
          <a:prstGeom prst="rect">
            <a:avLst/>
          </a:prstGeom>
          <a:solidFill>
            <a:srgbClr val="9CC3BD"/>
          </a:solidFill>
          <a:ln w="6350">
            <a:solidFill>
              <a:srgbClr val="FFFFFF"/>
            </a:solidFill>
            <a:prstDash val="solid"/>
          </a:ln>
        </p:spPr>
      </p:sp>
      <p:sp>
        <p:nvSpPr>
          <p:cNvPr id="29" name="Shape 23"/>
          <p:cNvSpPr/>
          <p:nvPr/>
        </p:nvSpPr>
        <p:spPr>
          <a:xfrm>
            <a:off x="4279392" y="4800600"/>
            <a:ext cx="1188720" cy="210312"/>
          </a:xfrm>
          <a:prstGeom prst="rect">
            <a:avLst/>
          </a:prstGeom>
          <a:solidFill>
            <a:srgbClr val="9CC3BD"/>
          </a:solidFill>
          <a:ln w="6350">
            <a:solidFill>
              <a:srgbClr val="FFFFFF"/>
            </a:solidFill>
            <a:prstDash val="solid"/>
          </a:ln>
        </p:spPr>
      </p:sp>
      <p:sp>
        <p:nvSpPr>
          <p:cNvPr id="30" name="Shape 24"/>
          <p:cNvSpPr/>
          <p:nvPr/>
        </p:nvSpPr>
        <p:spPr>
          <a:xfrm>
            <a:off x="5522976" y="4800600"/>
            <a:ext cx="1188720" cy="210312"/>
          </a:xfrm>
          <a:prstGeom prst="rect">
            <a:avLst/>
          </a:prstGeom>
          <a:solidFill>
            <a:srgbClr val="9CC3BD"/>
          </a:solidFill>
          <a:ln w="6350">
            <a:solidFill>
              <a:srgbClr val="FFFFFF"/>
            </a:solidFill>
            <a:prstDash val="solid"/>
          </a:ln>
        </p:spPr>
      </p:sp>
      <p:sp>
        <p:nvSpPr>
          <p:cNvPr id="31" name="Shape 25"/>
          <p:cNvSpPr/>
          <p:nvPr/>
        </p:nvSpPr>
        <p:spPr>
          <a:xfrm>
            <a:off x="548640" y="5065776"/>
            <a:ext cx="1188720" cy="210312"/>
          </a:xfrm>
          <a:prstGeom prst="rect">
            <a:avLst/>
          </a:prstGeom>
          <a:solidFill>
            <a:srgbClr val="9CC3BD"/>
          </a:solidFill>
          <a:ln w="6350">
            <a:solidFill>
              <a:srgbClr val="FFFFFF"/>
            </a:solidFill>
            <a:prstDash val="solid"/>
          </a:ln>
        </p:spPr>
      </p:sp>
      <p:sp>
        <p:nvSpPr>
          <p:cNvPr id="32" name="Shape 26"/>
          <p:cNvSpPr/>
          <p:nvPr/>
        </p:nvSpPr>
        <p:spPr>
          <a:xfrm>
            <a:off x="1792224" y="5065776"/>
            <a:ext cx="1188720" cy="210312"/>
          </a:xfrm>
          <a:prstGeom prst="rect">
            <a:avLst/>
          </a:prstGeom>
          <a:solidFill>
            <a:srgbClr val="E0A526"/>
          </a:solidFill>
          <a:ln w="6350">
            <a:solidFill>
              <a:srgbClr val="FFFFFF"/>
            </a:solidFill>
            <a:prstDash val="solid"/>
          </a:ln>
        </p:spPr>
      </p:sp>
      <p:sp>
        <p:nvSpPr>
          <p:cNvPr id="33" name="Shape 27"/>
          <p:cNvSpPr/>
          <p:nvPr/>
        </p:nvSpPr>
        <p:spPr>
          <a:xfrm>
            <a:off x="3035808" y="5065776"/>
            <a:ext cx="1188720" cy="210312"/>
          </a:xfrm>
          <a:prstGeom prst="rect">
            <a:avLst/>
          </a:prstGeom>
          <a:solidFill>
            <a:srgbClr val="9CC3BD"/>
          </a:solidFill>
          <a:ln w="6350">
            <a:solidFill>
              <a:srgbClr val="FFFFFF"/>
            </a:solidFill>
            <a:prstDash val="solid"/>
          </a:ln>
        </p:spPr>
      </p:sp>
      <p:sp>
        <p:nvSpPr>
          <p:cNvPr id="34" name="Shape 28"/>
          <p:cNvSpPr/>
          <p:nvPr/>
        </p:nvSpPr>
        <p:spPr>
          <a:xfrm>
            <a:off x="4279392" y="5065776"/>
            <a:ext cx="1188720" cy="210312"/>
          </a:xfrm>
          <a:prstGeom prst="rect">
            <a:avLst/>
          </a:prstGeom>
          <a:solidFill>
            <a:srgbClr val="9CC3BD"/>
          </a:solidFill>
          <a:ln w="6350">
            <a:solidFill>
              <a:srgbClr val="FFFFFF"/>
            </a:solidFill>
            <a:prstDash val="solid"/>
          </a:ln>
        </p:spPr>
      </p:sp>
      <p:sp>
        <p:nvSpPr>
          <p:cNvPr id="35" name="Shape 29"/>
          <p:cNvSpPr/>
          <p:nvPr/>
        </p:nvSpPr>
        <p:spPr>
          <a:xfrm>
            <a:off x="5522976" y="5065776"/>
            <a:ext cx="1188720" cy="210312"/>
          </a:xfrm>
          <a:prstGeom prst="rect">
            <a:avLst/>
          </a:prstGeom>
          <a:solidFill>
            <a:srgbClr val="9CC3BD"/>
          </a:solidFill>
          <a:ln w="6350">
            <a:solidFill>
              <a:srgbClr val="FFFFFF"/>
            </a:solidFill>
            <a:prstDash val="solid"/>
          </a:ln>
        </p:spPr>
      </p:sp>
      <p:sp>
        <p:nvSpPr>
          <p:cNvPr id="36" name="Shape 30"/>
          <p:cNvSpPr/>
          <p:nvPr/>
        </p:nvSpPr>
        <p:spPr>
          <a:xfrm>
            <a:off x="548640" y="5330952"/>
            <a:ext cx="1188720" cy="210312"/>
          </a:xfrm>
          <a:prstGeom prst="rect">
            <a:avLst/>
          </a:prstGeom>
          <a:solidFill>
            <a:srgbClr val="9CC3BD"/>
          </a:solidFill>
          <a:ln w="6350">
            <a:solidFill>
              <a:srgbClr val="FFFFFF"/>
            </a:solidFill>
            <a:prstDash val="solid"/>
          </a:ln>
        </p:spPr>
      </p:sp>
      <p:sp>
        <p:nvSpPr>
          <p:cNvPr id="37" name="Shape 31"/>
          <p:cNvSpPr/>
          <p:nvPr/>
        </p:nvSpPr>
        <p:spPr>
          <a:xfrm>
            <a:off x="1792224" y="5330952"/>
            <a:ext cx="1188720" cy="210312"/>
          </a:xfrm>
          <a:prstGeom prst="rect">
            <a:avLst/>
          </a:prstGeom>
          <a:solidFill>
            <a:srgbClr val="9CC3BD"/>
          </a:solidFill>
          <a:ln w="6350">
            <a:solidFill>
              <a:srgbClr val="FFFFFF"/>
            </a:solidFill>
            <a:prstDash val="solid"/>
          </a:ln>
        </p:spPr>
      </p:sp>
      <p:sp>
        <p:nvSpPr>
          <p:cNvPr id="38" name="Shape 32"/>
          <p:cNvSpPr/>
          <p:nvPr/>
        </p:nvSpPr>
        <p:spPr>
          <a:xfrm>
            <a:off x="3035808" y="5330952"/>
            <a:ext cx="1188720" cy="210312"/>
          </a:xfrm>
          <a:prstGeom prst="rect">
            <a:avLst/>
          </a:prstGeom>
          <a:solidFill>
            <a:srgbClr val="E0A526"/>
          </a:solidFill>
          <a:ln w="6350">
            <a:solidFill>
              <a:srgbClr val="FFFFFF"/>
            </a:solidFill>
            <a:prstDash val="solid"/>
          </a:ln>
        </p:spPr>
      </p:sp>
      <p:sp>
        <p:nvSpPr>
          <p:cNvPr id="39" name="Shape 33"/>
          <p:cNvSpPr/>
          <p:nvPr/>
        </p:nvSpPr>
        <p:spPr>
          <a:xfrm>
            <a:off x="4279392" y="5330952"/>
            <a:ext cx="1188720" cy="210312"/>
          </a:xfrm>
          <a:prstGeom prst="rect">
            <a:avLst/>
          </a:prstGeom>
          <a:solidFill>
            <a:srgbClr val="9CC3BD"/>
          </a:solidFill>
          <a:ln w="6350">
            <a:solidFill>
              <a:srgbClr val="FFFFFF"/>
            </a:solidFill>
            <a:prstDash val="solid"/>
          </a:ln>
        </p:spPr>
      </p:sp>
      <p:sp>
        <p:nvSpPr>
          <p:cNvPr id="40" name="Shape 34"/>
          <p:cNvSpPr/>
          <p:nvPr/>
        </p:nvSpPr>
        <p:spPr>
          <a:xfrm>
            <a:off x="5522976" y="5330952"/>
            <a:ext cx="1188720" cy="210312"/>
          </a:xfrm>
          <a:prstGeom prst="rect">
            <a:avLst/>
          </a:prstGeom>
          <a:solidFill>
            <a:srgbClr val="9CC3BD"/>
          </a:solidFill>
          <a:ln w="6350">
            <a:solidFill>
              <a:srgbClr val="FFFFFF"/>
            </a:solidFill>
            <a:prstDash val="solid"/>
          </a:ln>
        </p:spPr>
      </p:sp>
      <p:sp>
        <p:nvSpPr>
          <p:cNvPr id="41" name="Shape 35"/>
          <p:cNvSpPr/>
          <p:nvPr/>
        </p:nvSpPr>
        <p:spPr>
          <a:xfrm>
            <a:off x="548640" y="5596128"/>
            <a:ext cx="1188720" cy="210312"/>
          </a:xfrm>
          <a:prstGeom prst="rect">
            <a:avLst/>
          </a:prstGeom>
          <a:solidFill>
            <a:srgbClr val="9CC3BD"/>
          </a:solidFill>
          <a:ln w="6350">
            <a:solidFill>
              <a:srgbClr val="FFFFFF"/>
            </a:solidFill>
            <a:prstDash val="solid"/>
          </a:ln>
        </p:spPr>
      </p:sp>
      <p:sp>
        <p:nvSpPr>
          <p:cNvPr id="42" name="Shape 36"/>
          <p:cNvSpPr/>
          <p:nvPr/>
        </p:nvSpPr>
        <p:spPr>
          <a:xfrm>
            <a:off x="1792224" y="5596128"/>
            <a:ext cx="1188720" cy="210312"/>
          </a:xfrm>
          <a:prstGeom prst="rect">
            <a:avLst/>
          </a:prstGeom>
          <a:solidFill>
            <a:srgbClr val="9CC3BD"/>
          </a:solidFill>
          <a:ln w="6350">
            <a:solidFill>
              <a:srgbClr val="FFFFFF"/>
            </a:solidFill>
            <a:prstDash val="solid"/>
          </a:ln>
        </p:spPr>
      </p:sp>
      <p:sp>
        <p:nvSpPr>
          <p:cNvPr id="43" name="Shape 37"/>
          <p:cNvSpPr/>
          <p:nvPr/>
        </p:nvSpPr>
        <p:spPr>
          <a:xfrm>
            <a:off x="3035808" y="5596128"/>
            <a:ext cx="1188720" cy="210312"/>
          </a:xfrm>
          <a:prstGeom prst="rect">
            <a:avLst/>
          </a:prstGeom>
          <a:solidFill>
            <a:srgbClr val="9CC3BD"/>
          </a:solidFill>
          <a:ln w="6350">
            <a:solidFill>
              <a:srgbClr val="FFFFFF"/>
            </a:solidFill>
            <a:prstDash val="solid"/>
          </a:ln>
        </p:spPr>
      </p:sp>
      <p:sp>
        <p:nvSpPr>
          <p:cNvPr id="44" name="Shape 38"/>
          <p:cNvSpPr/>
          <p:nvPr/>
        </p:nvSpPr>
        <p:spPr>
          <a:xfrm>
            <a:off x="4279392" y="5596128"/>
            <a:ext cx="1188720" cy="210312"/>
          </a:xfrm>
          <a:prstGeom prst="rect">
            <a:avLst/>
          </a:prstGeom>
          <a:solidFill>
            <a:srgbClr val="E0A526"/>
          </a:solidFill>
          <a:ln w="6350">
            <a:solidFill>
              <a:srgbClr val="FFFFFF"/>
            </a:solidFill>
            <a:prstDash val="solid"/>
          </a:ln>
        </p:spPr>
      </p:sp>
      <p:sp>
        <p:nvSpPr>
          <p:cNvPr id="45" name="Shape 39"/>
          <p:cNvSpPr/>
          <p:nvPr/>
        </p:nvSpPr>
        <p:spPr>
          <a:xfrm>
            <a:off x="5522976" y="5596128"/>
            <a:ext cx="1188720" cy="210312"/>
          </a:xfrm>
          <a:prstGeom prst="rect">
            <a:avLst/>
          </a:prstGeom>
          <a:solidFill>
            <a:srgbClr val="9CC3BD"/>
          </a:solidFill>
          <a:ln w="6350">
            <a:solidFill>
              <a:srgbClr val="FFFFFF"/>
            </a:solidFill>
            <a:prstDash val="solid"/>
          </a:ln>
        </p:spPr>
      </p:sp>
      <p:sp>
        <p:nvSpPr>
          <p:cNvPr id="46" name="Shape 40"/>
          <p:cNvSpPr/>
          <p:nvPr/>
        </p:nvSpPr>
        <p:spPr>
          <a:xfrm>
            <a:off x="548640" y="5861304"/>
            <a:ext cx="1188720" cy="210312"/>
          </a:xfrm>
          <a:prstGeom prst="rect">
            <a:avLst/>
          </a:prstGeom>
          <a:solidFill>
            <a:srgbClr val="9CC3BD"/>
          </a:solidFill>
          <a:ln w="6350">
            <a:solidFill>
              <a:srgbClr val="FFFFFF"/>
            </a:solidFill>
            <a:prstDash val="solid"/>
          </a:ln>
        </p:spPr>
      </p:sp>
      <p:sp>
        <p:nvSpPr>
          <p:cNvPr id="47" name="Shape 41"/>
          <p:cNvSpPr/>
          <p:nvPr/>
        </p:nvSpPr>
        <p:spPr>
          <a:xfrm>
            <a:off x="1792224" y="5861304"/>
            <a:ext cx="1188720" cy="210312"/>
          </a:xfrm>
          <a:prstGeom prst="rect">
            <a:avLst/>
          </a:prstGeom>
          <a:solidFill>
            <a:srgbClr val="9CC3BD"/>
          </a:solidFill>
          <a:ln w="6350">
            <a:solidFill>
              <a:srgbClr val="FFFFFF"/>
            </a:solidFill>
            <a:prstDash val="solid"/>
          </a:ln>
        </p:spPr>
      </p:sp>
      <p:sp>
        <p:nvSpPr>
          <p:cNvPr id="48" name="Shape 42"/>
          <p:cNvSpPr/>
          <p:nvPr/>
        </p:nvSpPr>
        <p:spPr>
          <a:xfrm>
            <a:off x="3035808" y="5861304"/>
            <a:ext cx="1188720" cy="210312"/>
          </a:xfrm>
          <a:prstGeom prst="rect">
            <a:avLst/>
          </a:prstGeom>
          <a:solidFill>
            <a:srgbClr val="9CC3BD"/>
          </a:solidFill>
          <a:ln w="6350">
            <a:solidFill>
              <a:srgbClr val="FFFFFF"/>
            </a:solidFill>
            <a:prstDash val="solid"/>
          </a:ln>
        </p:spPr>
      </p:sp>
      <p:sp>
        <p:nvSpPr>
          <p:cNvPr id="49" name="Shape 43"/>
          <p:cNvSpPr/>
          <p:nvPr/>
        </p:nvSpPr>
        <p:spPr>
          <a:xfrm>
            <a:off x="4279392" y="5861304"/>
            <a:ext cx="1188720" cy="210312"/>
          </a:xfrm>
          <a:prstGeom prst="rect">
            <a:avLst/>
          </a:prstGeom>
          <a:solidFill>
            <a:srgbClr val="9CC3BD"/>
          </a:solidFill>
          <a:ln w="6350">
            <a:solidFill>
              <a:srgbClr val="FFFFFF"/>
            </a:solidFill>
            <a:prstDash val="solid"/>
          </a:ln>
        </p:spPr>
      </p:sp>
      <p:sp>
        <p:nvSpPr>
          <p:cNvPr id="50" name="Shape 44"/>
          <p:cNvSpPr/>
          <p:nvPr/>
        </p:nvSpPr>
        <p:spPr>
          <a:xfrm>
            <a:off x="5522976" y="5861304"/>
            <a:ext cx="1188720" cy="210312"/>
          </a:xfrm>
          <a:prstGeom prst="rect">
            <a:avLst/>
          </a:prstGeom>
          <a:solidFill>
            <a:srgbClr val="E0A526"/>
          </a:solidFill>
          <a:ln w="6350">
            <a:solidFill>
              <a:srgbClr val="FFFFFF"/>
            </a:solidFill>
            <a:prstDash val="solid"/>
          </a:ln>
        </p:spPr>
      </p:sp>
      <p:sp>
        <p:nvSpPr>
          <p:cNvPr id="51" name="Text 45"/>
          <p:cNvSpPr txBox="1"/>
          <p:nvPr/>
        </p:nvSpPr>
        <p:spPr>
          <a:xfrm>
            <a:off x="548640" y="6126480"/>
            <a:ext cx="6217920" cy="274320"/>
          </a:xfrm>
          <a:prstGeom prst="rect">
            <a:avLst/>
          </a:prstGeom>
          <a:noFill/>
          <a:ln/>
        </p:spPr>
        <p:txBody>
          <a:bodyPr wrap="square" lIns="0" tIns="0" rIns="0" bIns="0" rtlCol="0" anchor="t"/>
          <a:lstStyle/>
          <a:p>
            <a:pPr indent="0" marL="0">
              <a:buNone/>
            </a:pPr>
            <a:r>
              <a:rPr lang="en-US" sz="1200" dirty="0">
                <a:solidFill>
                  <a:srgbClr val="9CC3BD"/>
                </a:solidFill>
                <a:latin typeface="Calibri" pitchFamily="34" charset="0"/>
                <a:ea typeface="Calibri" pitchFamily="34" charset="-122"/>
                <a:cs typeface="Calibri" pitchFamily="34" charset="-120"/>
              </a:rPr>
              <a:t>■ </a:t>
            </a:r>
            <a:pPr indent="0" marL="0">
              <a:buNone/>
            </a:pPr>
            <a:r>
              <a:rPr lang="en-US" sz="1200" dirty="0">
                <a:solidFill>
                  <a:srgbClr val="3A4644"/>
                </a:solidFill>
                <a:latin typeface="Calibri" pitchFamily="34" charset="0"/>
                <a:ea typeface="Calibri" pitchFamily="34" charset="-122"/>
                <a:cs typeface="Calibri" pitchFamily="34" charset="-120"/>
              </a:rPr>
              <a:t>Train fold   </a:t>
            </a:r>
            <a:pPr indent="0" marL="0">
              <a:buNone/>
            </a:pPr>
            <a:r>
              <a:rPr lang="en-US" sz="1200" dirty="0">
                <a:solidFill>
                  <a:srgbClr val="E0A526"/>
                </a:solidFill>
                <a:latin typeface="Calibri" pitchFamily="34" charset="0"/>
                <a:ea typeface="Calibri" pitchFamily="34" charset="-122"/>
                <a:cs typeface="Calibri" pitchFamily="34" charset="-120"/>
              </a:rPr>
              <a:t>■ </a:t>
            </a:r>
            <a:pPr indent="0" marL="0">
              <a:buNone/>
            </a:pPr>
            <a:r>
              <a:rPr lang="en-US" sz="1200" dirty="0">
                <a:solidFill>
                  <a:srgbClr val="3A4644"/>
                </a:solidFill>
                <a:latin typeface="Calibri" pitchFamily="34" charset="0"/>
                <a:ea typeface="Calibri" pitchFamily="34" charset="-122"/>
                <a:cs typeface="Calibri" pitchFamily="34" charset="-120"/>
              </a:rPr>
              <a:t>Validation fold</a:t>
            </a:r>
            <a:endParaRPr lang="en-US" sz="1200" dirty="0"/>
          </a:p>
        </p:txBody>
      </p:sp>
      <p:sp>
        <p:nvSpPr>
          <p:cNvPr id="52" name="Shape 46"/>
          <p:cNvSpPr/>
          <p:nvPr/>
        </p:nvSpPr>
        <p:spPr>
          <a:xfrm>
            <a:off x="7132320" y="4343400"/>
            <a:ext cx="4480560" cy="1828800"/>
          </a:xfrm>
          <a:prstGeom prst="roundRect">
            <a:avLst>
              <a:gd name="adj" fmla="val 4000"/>
            </a:avLst>
          </a:prstGeom>
          <a:solidFill>
            <a:srgbClr val="0E3B3A"/>
          </a:solidFill>
          <a:ln w="12700">
            <a:solidFill>
              <a:srgbClr val="0E3B3A"/>
            </a:solidFill>
            <a:prstDash val="solid"/>
          </a:ln>
        </p:spPr>
      </p:sp>
      <p:sp>
        <p:nvSpPr>
          <p:cNvPr id="53" name="Text 47"/>
          <p:cNvSpPr txBox="1"/>
          <p:nvPr/>
        </p:nvSpPr>
        <p:spPr>
          <a:xfrm>
            <a:off x="7360920" y="4526280"/>
            <a:ext cx="41148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GridSearch + F1-macro</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Chỉ trên Train (8,929 mẫu)</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Test bị khóa đến Tuần 4</a:t>
            </a:r>
            <a:endParaRPr lang="en-US" sz="1500" dirty="0"/>
          </a:p>
          <a:p>
            <a:pPr marL="342900" indent="-3429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Mốc dưới: Dummy = 0.3448</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Learning curves: chẩn đoán bias và variance</a:t>
            </a:r>
            <a:endParaRPr lang="en-US" sz="3000" dirty="0"/>
          </a:p>
        </p:txBody>
      </p:sp>
      <p:pic>
        <p:nvPicPr>
          <p:cNvPr id="4" name="Image 0" descr="Learning curves của 3 mô hình">    </p:cNvPr>
          <p:cNvPicPr>
            <a:picLocks noChangeAspect="1"/>
          </p:cNvPicPr>
          <p:nvPr/>
        </p:nvPicPr>
        <p:blipFill>
          <a:blip r:embed="rId1"/>
          <a:stretch>
            <a:fillRect/>
          </a:stretch>
        </p:blipFill>
        <p:spPr>
          <a:xfrm>
            <a:off x="548640" y="1325880"/>
            <a:ext cx="11064240" cy="3424428"/>
          </a:xfrm>
          <a:prstGeom prst="rect">
            <a:avLst/>
          </a:prstGeom>
        </p:spPr>
      </p:pic>
      <p:sp>
        <p:nvSpPr>
          <p:cNvPr id="5" name="Shape 1"/>
          <p:cNvSpPr/>
          <p:nvPr/>
        </p:nvSpPr>
        <p:spPr>
          <a:xfrm>
            <a:off x="548640" y="4937760"/>
            <a:ext cx="3520440" cy="1234440"/>
          </a:xfrm>
          <a:prstGeom prst="roundRect">
            <a:avLst>
              <a:gd name="adj" fmla="val 5926"/>
            </a:avLst>
          </a:prstGeom>
          <a:solidFill>
            <a:srgbClr val="EDF3F2"/>
          </a:solidFill>
          <a:ln w="12700">
            <a:solidFill>
              <a:srgbClr val="EDF3F2"/>
            </a:solidFill>
            <a:prstDash val="solid"/>
          </a:ln>
        </p:spPr>
      </p:sp>
      <p:sp>
        <p:nvSpPr>
          <p:cNvPr id="6" name="Text 2"/>
          <p:cNvSpPr txBox="1"/>
          <p:nvPr/>
        </p:nvSpPr>
        <p:spPr>
          <a:xfrm>
            <a:off x="731520" y="5029200"/>
            <a:ext cx="3200400" cy="457200"/>
          </a:xfrm>
          <a:prstGeom prst="rect">
            <a:avLst/>
          </a:prstGeom>
          <a:noFill/>
          <a:ln/>
        </p:spPr>
        <p:txBody>
          <a:bodyPr wrap="square" lIns="0" tIns="0" rIns="0" bIns="0" rtlCol="0" anchor="ctr"/>
          <a:lstStyle/>
          <a:p>
            <a:pPr indent="0" marL="0">
              <a:buNone/>
            </a:pPr>
            <a:r>
              <a:rPr lang="en-US" sz="2200" b="1" dirty="0">
                <a:solidFill>
                  <a:srgbClr val="0F6E68"/>
                </a:solidFill>
                <a:latin typeface="Cambria" pitchFamily="34" charset="0"/>
                <a:ea typeface="Cambria" pitchFamily="34" charset="-122"/>
                <a:cs typeface="Cambria" pitchFamily="34" charset="-120"/>
              </a:rPr>
              <a:t>Gap 0.002</a:t>
            </a:r>
            <a:pPr indent="0" marL="0">
              <a:buNone/>
            </a:pPr>
            <a:r>
              <a:rPr lang="en-US" sz="1300" b="1" dirty="0">
                <a:solidFill>
                  <a:srgbClr val="0E3B3A"/>
                </a:solidFill>
                <a:latin typeface="Calibri" pitchFamily="34" charset="0"/>
                <a:ea typeface="Calibri" pitchFamily="34" charset="-122"/>
                <a:cs typeface="Calibri" pitchFamily="34" charset="-120"/>
              </a:rPr>
              <a:t>   Logistic Regression</a:t>
            </a:r>
            <a:endParaRPr lang="en-US" sz="1400" dirty="0"/>
          </a:p>
        </p:txBody>
      </p:sp>
      <p:sp>
        <p:nvSpPr>
          <p:cNvPr id="7" name="Text 3"/>
          <p:cNvSpPr txBox="1"/>
          <p:nvPr/>
        </p:nvSpPr>
        <p:spPr>
          <a:xfrm>
            <a:off x="731520" y="5504688"/>
            <a:ext cx="3200400" cy="59436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Bias cao — hai đường sát nhau ở mức thấp</a:t>
            </a:r>
            <a:endParaRPr lang="en-US" sz="1300" dirty="0"/>
          </a:p>
        </p:txBody>
      </p:sp>
      <p:sp>
        <p:nvSpPr>
          <p:cNvPr id="8" name="Shape 4"/>
          <p:cNvSpPr/>
          <p:nvPr/>
        </p:nvSpPr>
        <p:spPr>
          <a:xfrm>
            <a:off x="4297680" y="4937760"/>
            <a:ext cx="3520440" cy="1234440"/>
          </a:xfrm>
          <a:prstGeom prst="roundRect">
            <a:avLst>
              <a:gd name="adj" fmla="val 5926"/>
            </a:avLst>
          </a:prstGeom>
          <a:solidFill>
            <a:srgbClr val="EDF3F2"/>
          </a:solidFill>
          <a:ln w="12700">
            <a:solidFill>
              <a:srgbClr val="EDF3F2"/>
            </a:solidFill>
            <a:prstDash val="solid"/>
          </a:ln>
        </p:spPr>
      </p:sp>
      <p:sp>
        <p:nvSpPr>
          <p:cNvPr id="9" name="Text 5"/>
          <p:cNvSpPr txBox="1"/>
          <p:nvPr/>
        </p:nvSpPr>
        <p:spPr>
          <a:xfrm>
            <a:off x="4480560" y="5029200"/>
            <a:ext cx="3200400" cy="457200"/>
          </a:xfrm>
          <a:prstGeom prst="rect">
            <a:avLst/>
          </a:prstGeom>
          <a:noFill/>
          <a:ln/>
        </p:spPr>
        <p:txBody>
          <a:bodyPr wrap="square" lIns="0" tIns="0" rIns="0" bIns="0" rtlCol="0" anchor="ctr"/>
          <a:lstStyle/>
          <a:p>
            <a:pPr indent="0" marL="0">
              <a:buNone/>
            </a:pPr>
            <a:r>
              <a:rPr lang="en-US" sz="2200" b="1" dirty="0">
                <a:solidFill>
                  <a:srgbClr val="C2553D"/>
                </a:solidFill>
                <a:latin typeface="Cambria" pitchFamily="34" charset="0"/>
                <a:ea typeface="Cambria" pitchFamily="34" charset="-122"/>
                <a:cs typeface="Cambria" pitchFamily="34" charset="-120"/>
              </a:rPr>
              <a:t>Gap 0.164</a:t>
            </a:r>
            <a:pPr indent="0" marL="0">
              <a:buNone/>
            </a:pPr>
            <a:r>
              <a:rPr lang="en-US" sz="1300" b="1" dirty="0">
                <a:solidFill>
                  <a:srgbClr val="0E3B3A"/>
                </a:solidFill>
                <a:latin typeface="Calibri" pitchFamily="34" charset="0"/>
                <a:ea typeface="Calibri" pitchFamily="34" charset="-122"/>
                <a:cs typeface="Calibri" pitchFamily="34" charset="-120"/>
              </a:rPr>
              <a:t>   Random Forest</a:t>
            </a:r>
            <a:endParaRPr lang="en-US" sz="1400" dirty="0"/>
          </a:p>
        </p:txBody>
      </p:sp>
      <p:sp>
        <p:nvSpPr>
          <p:cNvPr id="10" name="Text 6"/>
          <p:cNvSpPr txBox="1"/>
          <p:nvPr/>
        </p:nvSpPr>
        <p:spPr>
          <a:xfrm>
            <a:off x="4480560" y="5504688"/>
            <a:ext cx="3200400" cy="59436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Variance cao — train 0.886 vs validation 0.722</a:t>
            </a:r>
            <a:endParaRPr lang="en-US" sz="1300" dirty="0"/>
          </a:p>
        </p:txBody>
      </p:sp>
      <p:sp>
        <p:nvSpPr>
          <p:cNvPr id="11" name="Shape 7"/>
          <p:cNvSpPr/>
          <p:nvPr/>
        </p:nvSpPr>
        <p:spPr>
          <a:xfrm>
            <a:off x="8046720" y="4937760"/>
            <a:ext cx="3520440" cy="1234440"/>
          </a:xfrm>
          <a:prstGeom prst="roundRect">
            <a:avLst>
              <a:gd name="adj" fmla="val 5926"/>
            </a:avLst>
          </a:prstGeom>
          <a:solidFill>
            <a:srgbClr val="EDF3F2"/>
          </a:solidFill>
          <a:ln w="12700">
            <a:solidFill>
              <a:srgbClr val="EDF3F2"/>
            </a:solidFill>
            <a:prstDash val="solid"/>
          </a:ln>
        </p:spPr>
      </p:sp>
      <p:sp>
        <p:nvSpPr>
          <p:cNvPr id="12" name="Text 8"/>
          <p:cNvSpPr txBox="1"/>
          <p:nvPr/>
        </p:nvSpPr>
        <p:spPr>
          <a:xfrm>
            <a:off x="8229600" y="5029200"/>
            <a:ext cx="3200400" cy="457200"/>
          </a:xfrm>
          <a:prstGeom prst="rect">
            <a:avLst/>
          </a:prstGeom>
          <a:noFill/>
          <a:ln/>
        </p:spPr>
        <p:txBody>
          <a:bodyPr wrap="square" lIns="0" tIns="0" rIns="0" bIns="0" rtlCol="0" anchor="ctr"/>
          <a:lstStyle/>
          <a:p>
            <a:pPr indent="0" marL="0">
              <a:buNone/>
            </a:pPr>
            <a:r>
              <a:rPr lang="en-US" sz="2200" b="1" dirty="0">
                <a:solidFill>
                  <a:srgbClr val="5E7F9A"/>
                </a:solidFill>
                <a:latin typeface="Cambria" pitchFamily="34" charset="0"/>
                <a:ea typeface="Cambria" pitchFamily="34" charset="-122"/>
                <a:cs typeface="Cambria" pitchFamily="34" charset="-120"/>
              </a:rPr>
              <a:t>Gap 0.021</a:t>
            </a:r>
            <a:pPr indent="0" marL="0">
              <a:buNone/>
            </a:pPr>
            <a:r>
              <a:rPr lang="en-US" sz="1300" b="1" dirty="0">
                <a:solidFill>
                  <a:srgbClr val="0E3B3A"/>
                </a:solidFill>
                <a:latin typeface="Calibri" pitchFamily="34" charset="0"/>
                <a:ea typeface="Calibri" pitchFamily="34" charset="-122"/>
                <a:cs typeface="Calibri" pitchFamily="34" charset="-120"/>
              </a:rPr>
              <a:t>   SVC RBF</a:t>
            </a:r>
            <a:endParaRPr lang="en-US" sz="1400" dirty="0"/>
          </a:p>
        </p:txBody>
      </p:sp>
      <p:sp>
        <p:nvSpPr>
          <p:cNvPr id="13" name="Text 9"/>
          <p:cNvSpPr txBox="1"/>
          <p:nvPr/>
        </p:nvSpPr>
        <p:spPr>
          <a:xfrm>
            <a:off x="8229600" y="5504688"/>
            <a:ext cx="3200400" cy="59436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Cân bằng — validation còn tăng khi thêm dữ liệu</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Kết quả trên tập Test độc lập (2,233 mẫu)</a:t>
            </a:r>
            <a:endParaRPr lang="en-US" sz="3000" dirty="0"/>
          </a:p>
        </p:txBody>
      </p:sp>
      <p:graphicFrame>
        <p:nvGraphicFramePr>
          <p:cNvPr id="4" name="Chart 0" descr=""/>
          <p:cNvGraphicFramePr/>
          <p:nvPr/>
        </p:nvGraphicFramePr>
        <p:xfrm>
          <a:off x="548640" y="1371600"/>
          <a:ext cx="49377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5440680"/>
            <a:ext cx="4937760" cy="731520"/>
          </a:xfrm>
          <a:prstGeom prst="roundRect">
            <a:avLst>
              <a:gd name="adj" fmla="val 10000"/>
            </a:avLst>
          </a:prstGeom>
          <a:solidFill>
            <a:srgbClr val="0E3B3A"/>
          </a:solidFill>
          <a:ln w="12700">
            <a:solidFill>
              <a:srgbClr val="0E3B3A"/>
            </a:solidFill>
            <a:prstDash val="solid"/>
          </a:ln>
        </p:spPr>
      </p:sp>
      <p:sp>
        <p:nvSpPr>
          <p:cNvPr id="6" name="Text 2"/>
          <p:cNvSpPr txBox="1"/>
          <p:nvPr/>
        </p:nvSpPr>
        <p:spPr>
          <a:xfrm>
            <a:off x="731520" y="5440680"/>
            <a:ext cx="457200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Gap CV − Test ≤ 0.014 → không overfit · Dummy chỉ đạt 0.345</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463040"/>
                <a:gridCol w="896112"/>
                <a:gridCol w="896112"/>
                <a:gridCol w="822960"/>
                <a:gridCol w="841248"/>
                <a:gridCol w="841248"/>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Mô hình</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Macro-F1</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PR-AUC</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r>
              <a:tr h="502920">
                <a:tc>
                  <a:txBody>
                    <a:bodyPr/>
                    <a:lstStyle/>
                    <a:p>
                      <a:pPr indent="0" marL="0">
                        <a:buNone/>
                      </a:pPr>
                      <a:r>
                        <a:rPr lang="en-US" sz="1300" b="1" dirty="0">
                          <a:solidFill>
                            <a:srgbClr val="1B2326"/>
                          </a:solidFill>
                          <a:latin typeface="Calibri" pitchFamily="34" charset="0"/>
                          <a:ea typeface="Calibri" pitchFamily="34" charset="-122"/>
                          <a:cs typeface="Calibri" pitchFamily="34" charset="-120"/>
                        </a:rPr>
                        <a:t>Logistic</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0.7098</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73.8%</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61.6%</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0.7605</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0.7654</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326"/>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b="1" dirty="0">
                          <a:solidFill>
                            <a:srgbClr val="0F6E68"/>
                          </a:solidFill>
                          <a:latin typeface="Calibri" pitchFamily="34" charset="0"/>
                          <a:ea typeface="Calibri" pitchFamily="34" charset="-122"/>
                          <a:cs typeface="Calibri" pitchFamily="34" charset="-120"/>
                        </a:rPr>
                        <a:t>0.7263</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76.3%</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6E68"/>
                          </a:solidFill>
                          <a:latin typeface="Calibri" pitchFamily="34" charset="0"/>
                          <a:ea typeface="Calibri" pitchFamily="34" charset="-122"/>
                          <a:cs typeface="Calibri" pitchFamily="34" charset="-120"/>
                        </a:rPr>
                        <a:t>62.9%</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300" b="1" dirty="0">
                          <a:solidFill>
                            <a:srgbClr val="0F6E68"/>
                          </a:solidFill>
                          <a:latin typeface="Calibri" pitchFamily="34" charset="0"/>
                          <a:ea typeface="Calibri" pitchFamily="34" charset="-122"/>
                          <a:cs typeface="Calibri" pitchFamily="34" charset="-120"/>
                        </a:rPr>
                        <a:t>0.7747</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300" b="1" dirty="0">
                          <a:solidFill>
                            <a:srgbClr val="0F6E68"/>
                          </a:solidFill>
                          <a:latin typeface="Calibri" pitchFamily="34" charset="0"/>
                          <a:ea typeface="Calibri" pitchFamily="34" charset="-122"/>
                          <a:cs typeface="Calibri" pitchFamily="34" charset="-120"/>
                        </a:rPr>
                        <a:t>0.7774</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r>
              <a:tr h="502920">
                <a:tc>
                  <a:txBody>
                    <a:bodyPr/>
                    <a:lstStyle/>
                    <a:p>
                      <a:pPr indent="0" marL="0">
                        <a:buNone/>
                      </a:pPr>
                      <a:r>
                        <a:rPr lang="en-US" sz="1300" b="1" dirty="0">
                          <a:solidFill>
                            <a:srgbClr val="1B2326"/>
                          </a:solidFill>
                          <a:latin typeface="Calibri" pitchFamily="34" charset="0"/>
                          <a:ea typeface="Calibri" pitchFamily="34" charset="-122"/>
                          <a:cs typeface="Calibri" pitchFamily="34" charset="-120"/>
                        </a:rPr>
                        <a:t>SVC RBF</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0.7185</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6E68"/>
                          </a:solidFill>
                          <a:latin typeface="Calibri" pitchFamily="34" charset="0"/>
                          <a:ea typeface="Calibri" pitchFamily="34" charset="-122"/>
                          <a:cs typeface="Calibri" pitchFamily="34" charset="-120"/>
                        </a:rPr>
                        <a:t>78.4%</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58.5%</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0.7729</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0.7727</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6B7B79"/>
                          </a:solidFill>
                          <a:latin typeface="Calibri" pitchFamily="34" charset="0"/>
                          <a:ea typeface="Calibri" pitchFamily="34" charset="-122"/>
                          <a:cs typeface="Calibri" pitchFamily="34" charset="-120"/>
                        </a:rPr>
                        <a:t>Dummy</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0.3448</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326"/>
                          </a:solidFill>
                          <a:latin typeface="Calibri" pitchFamily="34" charset="0"/>
                          <a:ea typeface="Calibri" pitchFamily="34" charset="-122"/>
                          <a:cs typeface="Calibri" pitchFamily="34" charset="-120"/>
                        </a:rPr>
                        <a:t>0.4738</a:t>
                      </a:r>
                      <a:endParaRPr lang="en-US" sz="13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852160" y="4114800"/>
            <a:ext cx="5760720" cy="274320"/>
          </a:xfrm>
          <a:prstGeom prst="rect">
            <a:avLst/>
          </a:prstGeom>
          <a:noFill/>
          <a:ln/>
        </p:spPr>
        <p:txBody>
          <a:bodyPr wrap="square" lIns="0" tIns="0" rIns="0" bIns="0" rtlCol="0" anchor="t"/>
          <a:lstStyle/>
          <a:p>
            <a:pPr indent="0" marL="0">
              <a:buNone/>
            </a:pPr>
            <a:r>
              <a:rPr lang="en-US" sz="1100" dirty="0">
                <a:solidFill>
                  <a:srgbClr val="6B7B79"/>
                </a:solidFill>
                <a:latin typeface="Calibri" pitchFamily="34" charset="0"/>
                <a:ea typeface="Calibri" pitchFamily="34" charset="-122"/>
                <a:cs typeface="Calibri" pitchFamily="34" charset="-120"/>
              </a:rPr>
              <a:t>Precision / Recall tính cho lớp 'yes' tại ngưỡng 0.5. Ô tô xanh = tốt nhất.</a:t>
            </a:r>
            <a:endParaRPr lang="en-US" sz="1100" dirty="0"/>
          </a:p>
        </p:txBody>
      </p:sp>
      <p:sp>
        <p:nvSpPr>
          <p:cNvPr id="9" name="Shape 4"/>
          <p:cNvSpPr/>
          <p:nvPr/>
        </p:nvSpPr>
        <p:spPr>
          <a:xfrm>
            <a:off x="5852160" y="4526280"/>
            <a:ext cx="5760720" cy="1417320"/>
          </a:xfrm>
          <a:prstGeom prst="roundRect">
            <a:avLst>
              <a:gd name="adj" fmla="val 5161"/>
            </a:avLst>
          </a:prstGeom>
          <a:solidFill>
            <a:srgbClr val="EDF3F2"/>
          </a:solidFill>
          <a:ln w="12700">
            <a:solidFill>
              <a:srgbClr val="EDF3F2"/>
            </a:solidFill>
            <a:prstDash val="solid"/>
          </a:ln>
        </p:spPr>
      </p:sp>
      <p:sp>
        <p:nvSpPr>
          <p:cNvPr id="10" name="Shape 5"/>
          <p:cNvSpPr/>
          <p:nvPr/>
        </p:nvSpPr>
        <p:spPr>
          <a:xfrm>
            <a:off x="6080760" y="4754880"/>
            <a:ext cx="566928" cy="566928"/>
          </a:xfrm>
          <a:prstGeom prst="ellipse">
            <a:avLst/>
          </a:prstGeom>
          <a:solidFill>
            <a:srgbClr val="0F6E68"/>
          </a:solidFill>
          <a:ln w="12700">
            <a:solidFill>
              <a:srgbClr val="0F6E68"/>
            </a:solidFill>
            <a:prstDash val="solid"/>
          </a:ln>
        </p:spPr>
      </p:sp>
      <p:pic>
        <p:nvPicPr>
          <p:cNvPr id="11" name="Image 0" descr="preencoded.png">    </p:cNvPr>
          <p:cNvPicPr>
            <a:picLocks noChangeAspect="1"/>
          </p:cNvPicPr>
          <p:nvPr/>
        </p:nvPicPr>
        <p:blipFill>
          <a:blip r:embed="rId2"/>
          <a:stretch>
            <a:fillRect/>
          </a:stretch>
        </p:blipFill>
        <p:spPr>
          <a:xfrm>
            <a:off x="6222492" y="4896612"/>
            <a:ext cx="283464" cy="283464"/>
          </a:xfrm>
          <a:prstGeom prst="rect">
            <a:avLst/>
          </a:prstGeom>
        </p:spPr>
      </p:pic>
      <p:sp>
        <p:nvSpPr>
          <p:cNvPr id="12" name="Text 6"/>
          <p:cNvSpPr txBox="1"/>
          <p:nvPr/>
        </p:nvSpPr>
        <p:spPr>
          <a:xfrm>
            <a:off x="6812280" y="4709160"/>
            <a:ext cx="466344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Vì sao Macro-F1 là chỉ số chính?</a:t>
            </a:r>
            <a:endParaRPr lang="en-US" sz="1500" dirty="0"/>
          </a:p>
        </p:txBody>
      </p:sp>
      <p:sp>
        <p:nvSpPr>
          <p:cNvPr id="13" name="Text 7"/>
          <p:cNvSpPr txBox="1"/>
          <p:nvPr/>
        </p:nvSpPr>
        <p:spPr>
          <a:xfrm>
            <a:off x="6812280" y="5074920"/>
            <a:ext cx="4663440" cy="100584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Trọng số bằng nhau cho 'yes' và 'no' — Accuracy che giấu việc bỏ sót khách 'yes' (Dummy: Accuracy 52.6%, Recall 0)</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Đường ROC và lựa chọn ngưỡng theo nghiệp vụ</a:t>
            </a:r>
            <a:endParaRPr lang="en-US" sz="3000" dirty="0"/>
          </a:p>
        </p:txBody>
      </p:sp>
      <p:pic>
        <p:nvPicPr>
          <p:cNvPr id="4" name="Image 0" descr="Đường ROC của các mô hình">    </p:cNvPr>
          <p:cNvPicPr>
            <a:picLocks noChangeAspect="1"/>
          </p:cNvPicPr>
          <p:nvPr/>
        </p:nvPicPr>
        <p:blipFill>
          <a:blip r:embed="rId1"/>
          <a:stretch>
            <a:fillRect/>
          </a:stretch>
        </p:blipFill>
        <p:spPr>
          <a:xfrm>
            <a:off x="548640" y="1280160"/>
            <a:ext cx="5394960" cy="4745736"/>
          </a:xfrm>
          <a:prstGeom prst="rect">
            <a:avLst/>
          </a:prstGeom>
        </p:spPr>
      </p:pic>
      <p:sp>
        <p:nvSpPr>
          <p:cNvPr id="5" name="Text 1"/>
          <p:cNvSpPr txBox="1"/>
          <p:nvPr/>
        </p:nvSpPr>
        <p:spPr>
          <a:xfrm>
            <a:off x="6355080" y="1371600"/>
            <a:ext cx="5303520" cy="411480"/>
          </a:xfrm>
          <a:prstGeom prst="rect">
            <a:avLst/>
          </a:prstGeom>
          <a:noFill/>
          <a:ln/>
        </p:spPr>
        <p:txBody>
          <a:bodyPr wrap="square" lIns="0" tIns="0" rIns="0" bIns="0" rtlCol="0" anchor="t"/>
          <a:lstStyle/>
          <a:p>
            <a:pPr indent="0" marL="0">
              <a:buNone/>
            </a:pPr>
            <a:r>
              <a:rPr lang="en-US" sz="1900" b="1" dirty="0">
                <a:solidFill>
                  <a:srgbClr val="0E3B3A"/>
                </a:solidFill>
                <a:latin typeface="Cambria" pitchFamily="34" charset="0"/>
                <a:ea typeface="Cambria" pitchFamily="34" charset="-122"/>
                <a:cs typeface="Cambria" pitchFamily="34" charset="-120"/>
              </a:rPr>
              <a:t>Ngưỡng là quyết định kinh doanh</a:t>
            </a:r>
            <a:endParaRPr lang="en-US" sz="1900" dirty="0"/>
          </a:p>
        </p:txBody>
      </p:sp>
      <p:sp>
        <p:nvSpPr>
          <p:cNvPr id="6" name="Shape 2"/>
          <p:cNvSpPr/>
          <p:nvPr/>
        </p:nvSpPr>
        <p:spPr>
          <a:xfrm>
            <a:off x="6355080" y="1920240"/>
            <a:ext cx="5257800" cy="1143000"/>
          </a:xfrm>
          <a:prstGeom prst="roundRect">
            <a:avLst>
              <a:gd name="adj" fmla="val 6400"/>
            </a:avLst>
          </a:prstGeom>
          <a:solidFill>
            <a:srgbClr val="EDF3F2"/>
          </a:solidFill>
          <a:ln w="12700">
            <a:solidFill>
              <a:srgbClr val="EDF3F2"/>
            </a:solidFill>
            <a:prstDash val="solid"/>
          </a:ln>
        </p:spPr>
      </p:sp>
      <p:sp>
        <p:nvSpPr>
          <p:cNvPr id="7" name="Text 3"/>
          <p:cNvSpPr txBox="1"/>
          <p:nvPr/>
        </p:nvSpPr>
        <p:spPr>
          <a:xfrm>
            <a:off x="6537960" y="2011680"/>
            <a:ext cx="4937760" cy="320040"/>
          </a:xfrm>
          <a:prstGeom prst="rect">
            <a:avLst/>
          </a:prstGeom>
          <a:noFill/>
          <a:ln/>
        </p:spPr>
        <p:txBody>
          <a:bodyPr wrap="square" lIns="0" tIns="0" rIns="0" bIns="0" rtlCol="0" anchor="t"/>
          <a:lstStyle/>
          <a:p>
            <a:pPr indent="0" marL="0">
              <a:buNone/>
            </a:pPr>
            <a:r>
              <a:rPr lang="en-US" sz="1200" b="1" spc="100" kern="0" dirty="0">
                <a:solidFill>
                  <a:srgbClr val="6B7B79"/>
                </a:solidFill>
                <a:latin typeface="Calibri" pitchFamily="34" charset="0"/>
                <a:ea typeface="Calibri" pitchFamily="34" charset="-122"/>
                <a:cs typeface="Calibri" pitchFamily="34" charset="-120"/>
              </a:rPr>
              <a:t>MẶC ĐỊNH · Random Forest, τ = 0.50</a:t>
            </a:r>
            <a:endParaRPr lang="en-US" sz="1200" dirty="0"/>
          </a:p>
        </p:txBody>
      </p:sp>
      <p:sp>
        <p:nvSpPr>
          <p:cNvPr id="8" name="Text 4"/>
          <p:cNvSpPr txBox="1"/>
          <p:nvPr/>
        </p:nvSpPr>
        <p:spPr>
          <a:xfrm>
            <a:off x="6537960" y="2377440"/>
            <a:ext cx="4937760" cy="502920"/>
          </a:xfrm>
          <a:prstGeom prst="rect">
            <a:avLst/>
          </a:prstGeom>
          <a:noFill/>
          <a:ln/>
        </p:spPr>
        <p:txBody>
          <a:bodyPr wrap="square" lIns="0" tIns="0" rIns="0" bIns="0" rtlCol="0" anchor="t"/>
          <a:lstStyle/>
          <a:p>
            <a:pPr indent="0" marL="0">
              <a:buNone/>
            </a:pPr>
            <a:r>
              <a:rPr lang="en-US" sz="2000" b="1" dirty="0">
                <a:solidFill>
                  <a:srgbClr val="0E3B3A"/>
                </a:solidFill>
                <a:latin typeface="Calibri" pitchFamily="34" charset="0"/>
                <a:ea typeface="Calibri" pitchFamily="34" charset="-122"/>
                <a:cs typeface="Calibri" pitchFamily="34" charset="-120"/>
              </a:rPr>
              <a:t>Precision 76.3%</a:t>
            </a:r>
            <a:pPr indent="0" marL="0">
              <a:buNone/>
            </a:pPr>
            <a:r>
              <a:rPr lang="en-US" sz="2000" dirty="0">
                <a:solidFill>
                  <a:srgbClr val="6B7B79"/>
                </a:solidFill>
                <a:latin typeface="Calibri" pitchFamily="34" charset="0"/>
                <a:ea typeface="Calibri" pitchFamily="34" charset="-122"/>
                <a:cs typeface="Calibri" pitchFamily="34" charset="-120"/>
              </a:rPr>
              <a:t>   ·   </a:t>
            </a:r>
            <a:pPr indent="0" marL="0">
              <a:buNone/>
            </a:pPr>
            <a:r>
              <a:rPr lang="en-US" sz="2000" b="1" dirty="0">
                <a:solidFill>
                  <a:srgbClr val="0E3B3A"/>
                </a:solidFill>
                <a:latin typeface="Calibri" pitchFamily="34" charset="0"/>
                <a:ea typeface="Calibri" pitchFamily="34" charset="-122"/>
                <a:cs typeface="Calibri" pitchFamily="34" charset="-120"/>
              </a:rPr>
              <a:t>Recall 62.9%</a:t>
            </a:r>
            <a:endParaRPr lang="en-US" sz="2000" dirty="0"/>
          </a:p>
        </p:txBody>
      </p:sp>
      <p:sp>
        <p:nvSpPr>
          <p:cNvPr id="9" name="Shape 5"/>
          <p:cNvSpPr/>
          <p:nvPr/>
        </p:nvSpPr>
        <p:spPr>
          <a:xfrm>
            <a:off x="6355080" y="3200400"/>
            <a:ext cx="5257800" cy="1325880"/>
          </a:xfrm>
          <a:prstGeom prst="roundRect">
            <a:avLst>
              <a:gd name="adj" fmla="val 5517"/>
            </a:avLst>
          </a:prstGeom>
          <a:solidFill>
            <a:srgbClr val="EDF3F2"/>
          </a:solidFill>
          <a:ln w="12700">
            <a:solidFill>
              <a:srgbClr val="EDF3F2"/>
            </a:solidFill>
            <a:prstDash val="solid"/>
          </a:ln>
        </p:spPr>
      </p:sp>
      <p:sp>
        <p:nvSpPr>
          <p:cNvPr id="10" name="Shape 6"/>
          <p:cNvSpPr/>
          <p:nvPr/>
        </p:nvSpPr>
        <p:spPr>
          <a:xfrm>
            <a:off x="6537960" y="3401568"/>
            <a:ext cx="502920" cy="502920"/>
          </a:xfrm>
          <a:prstGeom prst="ellipse">
            <a:avLst/>
          </a:prstGeom>
          <a:solidFill>
            <a:srgbClr val="5E7F9A"/>
          </a:solidFill>
          <a:ln w="12700">
            <a:solidFill>
              <a:srgbClr val="5E7F9A"/>
            </a:solidFill>
            <a:prstDash val="solid"/>
          </a:ln>
        </p:spPr>
      </p:sp>
      <p:pic>
        <p:nvPicPr>
          <p:cNvPr id="11" name="Image 1" descr="preencoded.png">    </p:cNvPr>
          <p:cNvPicPr>
            <a:picLocks noChangeAspect="1"/>
          </p:cNvPicPr>
          <p:nvPr/>
        </p:nvPicPr>
        <p:blipFill>
          <a:blip r:embed="rId2"/>
          <a:stretch>
            <a:fillRect/>
          </a:stretch>
        </p:blipFill>
        <p:spPr>
          <a:xfrm>
            <a:off x="6663690" y="3527298"/>
            <a:ext cx="251460" cy="251460"/>
          </a:xfrm>
          <a:prstGeom prst="rect">
            <a:avLst/>
          </a:prstGeom>
        </p:spPr>
      </p:pic>
      <p:sp>
        <p:nvSpPr>
          <p:cNvPr id="12" name="Text 7"/>
          <p:cNvSpPr txBox="1"/>
          <p:nvPr/>
        </p:nvSpPr>
        <p:spPr>
          <a:xfrm>
            <a:off x="7178040" y="3337560"/>
            <a:ext cx="4343400" cy="365760"/>
          </a:xfrm>
          <a:prstGeom prst="rect">
            <a:avLst/>
          </a:prstGeom>
          <a:noFill/>
          <a:ln/>
        </p:spPr>
        <p:txBody>
          <a:bodyPr wrap="square" lIns="0" tIns="0" rIns="0" bIns="0" rtlCol="0" anchor="t"/>
          <a:lstStyle/>
          <a:p>
            <a:pPr indent="0" marL="0">
              <a:buNone/>
            </a:pPr>
            <a:r>
              <a:rPr lang="en-US" sz="1400" b="1" dirty="0">
                <a:solidFill>
                  <a:srgbClr val="0E3B3A"/>
                </a:solidFill>
                <a:latin typeface="Calibri" pitchFamily="34" charset="0"/>
                <a:ea typeface="Calibri" pitchFamily="34" charset="-122"/>
                <a:cs typeface="Calibri" pitchFamily="34" charset="-120"/>
              </a:rPr>
              <a:t>A · Ngân sách gọi ít → ưu tiên Precision</a:t>
            </a:r>
            <a:endParaRPr lang="en-US" sz="1400" dirty="0"/>
          </a:p>
        </p:txBody>
      </p:sp>
      <p:sp>
        <p:nvSpPr>
          <p:cNvPr id="13" name="Text 8"/>
          <p:cNvSpPr txBox="1"/>
          <p:nvPr/>
        </p:nvSpPr>
        <p:spPr>
          <a:xfrm>
            <a:off x="7178040" y="3703320"/>
            <a:ext cx="434340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SVC RBF tại τ = 0.50: Precision 78.4% — gần 4/5 cuộc gọi thành công</a:t>
            </a:r>
            <a:endParaRPr lang="en-US" sz="1300" dirty="0"/>
          </a:p>
        </p:txBody>
      </p:sp>
      <p:sp>
        <p:nvSpPr>
          <p:cNvPr id="14" name="Shape 9"/>
          <p:cNvSpPr/>
          <p:nvPr/>
        </p:nvSpPr>
        <p:spPr>
          <a:xfrm>
            <a:off x="6355080" y="4663440"/>
            <a:ext cx="5257800" cy="1463040"/>
          </a:xfrm>
          <a:prstGeom prst="roundRect">
            <a:avLst>
              <a:gd name="adj" fmla="val 5000"/>
            </a:avLst>
          </a:prstGeom>
          <a:solidFill>
            <a:srgbClr val="EDF3F2"/>
          </a:solidFill>
          <a:ln w="12700">
            <a:solidFill>
              <a:srgbClr val="EDF3F2"/>
            </a:solidFill>
            <a:prstDash val="solid"/>
          </a:ln>
        </p:spPr>
      </p:sp>
      <p:sp>
        <p:nvSpPr>
          <p:cNvPr id="15" name="Shape 10"/>
          <p:cNvSpPr/>
          <p:nvPr/>
        </p:nvSpPr>
        <p:spPr>
          <a:xfrm>
            <a:off x="6537960" y="4864608"/>
            <a:ext cx="502920" cy="502920"/>
          </a:xfrm>
          <a:prstGeom prst="ellipse">
            <a:avLst/>
          </a:prstGeom>
          <a:solidFill>
            <a:srgbClr val="0F6E68"/>
          </a:solidFill>
          <a:ln w="12700">
            <a:solidFill>
              <a:srgbClr val="0F6E68"/>
            </a:solidFill>
            <a:prstDash val="solid"/>
          </a:ln>
        </p:spPr>
      </p:sp>
      <p:pic>
        <p:nvPicPr>
          <p:cNvPr id="16" name="Image 2" descr="preencoded.png">    </p:cNvPr>
          <p:cNvPicPr>
            <a:picLocks noChangeAspect="1"/>
          </p:cNvPicPr>
          <p:nvPr/>
        </p:nvPicPr>
        <p:blipFill>
          <a:blip r:embed="rId3"/>
          <a:stretch>
            <a:fillRect/>
          </a:stretch>
        </p:blipFill>
        <p:spPr>
          <a:xfrm>
            <a:off x="6663690" y="4990338"/>
            <a:ext cx="251460" cy="251460"/>
          </a:xfrm>
          <a:prstGeom prst="rect">
            <a:avLst/>
          </a:prstGeom>
        </p:spPr>
      </p:pic>
      <p:sp>
        <p:nvSpPr>
          <p:cNvPr id="17" name="Text 11"/>
          <p:cNvSpPr txBox="1"/>
          <p:nvPr/>
        </p:nvSpPr>
        <p:spPr>
          <a:xfrm>
            <a:off x="7178040" y="4800600"/>
            <a:ext cx="4343400" cy="365760"/>
          </a:xfrm>
          <a:prstGeom prst="rect">
            <a:avLst/>
          </a:prstGeom>
          <a:noFill/>
          <a:ln/>
        </p:spPr>
        <p:txBody>
          <a:bodyPr wrap="square" lIns="0" tIns="0" rIns="0" bIns="0" rtlCol="0" anchor="t"/>
          <a:lstStyle/>
          <a:p>
            <a:pPr indent="0" marL="0">
              <a:buNone/>
            </a:pPr>
            <a:r>
              <a:rPr lang="en-US" sz="1400" b="1" dirty="0">
                <a:solidFill>
                  <a:srgbClr val="0E3B3A"/>
                </a:solidFill>
                <a:latin typeface="Calibri" pitchFamily="34" charset="0"/>
                <a:ea typeface="Calibri" pitchFamily="34" charset="-122"/>
                <a:cs typeface="Calibri" pitchFamily="34" charset="-120"/>
              </a:rPr>
              <a:t>B · Cao điểm huy động → ưu tiên Recall</a:t>
            </a:r>
            <a:endParaRPr lang="en-US" sz="1400" dirty="0"/>
          </a:p>
        </p:txBody>
      </p:sp>
      <p:sp>
        <p:nvSpPr>
          <p:cNvPr id="18" name="Text 12"/>
          <p:cNvSpPr txBox="1"/>
          <p:nvPr/>
        </p:nvSpPr>
        <p:spPr>
          <a:xfrm>
            <a:off x="7178040" y="5166360"/>
            <a:ext cx="4343400" cy="82296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Random Forest hạ τ ≈ 0.41: </a:t>
            </a:r>
            <a:pPr indent="0" marL="0">
              <a:buNone/>
            </a:pPr>
            <a:r>
              <a:rPr lang="en-US" sz="1300" b="1" dirty="0">
                <a:solidFill>
                  <a:srgbClr val="0F6E68"/>
                </a:solidFill>
                <a:latin typeface="Calibri" pitchFamily="34" charset="0"/>
                <a:ea typeface="Calibri" pitchFamily="34" charset="-122"/>
                <a:cs typeface="Calibri" pitchFamily="34" charset="-120"/>
              </a:rPr>
              <a:t>Recall 62.9% → 71.9%</a:t>
            </a:r>
            <a:pPr indent="0" marL="0">
              <a:buNone/>
            </a:pPr>
            <a:r>
              <a:rPr lang="en-US" sz="1300" dirty="0">
                <a:solidFill>
                  <a:srgbClr val="3A4644"/>
                </a:solidFill>
                <a:latin typeface="Calibri" pitchFamily="34" charset="0"/>
                <a:ea typeface="Calibri" pitchFamily="34" charset="-122"/>
                <a:cs typeface="Calibri" pitchFamily="34" charset="-120"/>
              </a:rPr>
              <a:t>, Precision 76.3% → 68.4%</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Ma trận đánh đổi: không mô hình nào thắng tất cả</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834640"/>
                <a:gridCol w="2743200"/>
                <a:gridCol w="2743200"/>
                <a:gridCol w="2743200"/>
              </a:tblGrid>
              <a:tr h="51206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SVC RBF</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Macro-F1 (Test)</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0.7098</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0.7263</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0.7185</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Recall lớp 'yes'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61.6%</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62.9%</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400" dirty="0">
                          <a:solidFill>
                            <a:srgbClr val="C2553D"/>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E3DE"/>
                    </a:solidFill>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Precision lớp 'yes'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73.8%</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76.3%</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78.4%</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Độ trễ 1 mẫu (median)</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0.64 ms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400" dirty="0">
                          <a:solidFill>
                            <a:srgbClr val="C2553D"/>
                          </a:solidFill>
                          <a:latin typeface="Calibri" pitchFamily="34" charset="0"/>
                          <a:ea typeface="Calibri" pitchFamily="34" charset="-122"/>
                          <a:cs typeface="Calibri" pitchFamily="34" charset="-120"/>
                        </a:rPr>
                        <a:t>53.7 ms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E3DE"/>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1.19 ms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Throughput batch</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2.71 triệu mẫu/s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24.1 nghìn mẫu/s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400" dirty="0">
                          <a:solidFill>
                            <a:srgbClr val="C2553D"/>
                          </a:solidFill>
                          <a:latin typeface="Calibri" pitchFamily="34" charset="0"/>
                          <a:ea typeface="Calibri" pitchFamily="34" charset="-122"/>
                          <a:cs typeface="Calibri" pitchFamily="34" charset="-120"/>
                        </a:rPr>
                        <a:t>2.3 nghìn mẫu/s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E3DE"/>
                    </a:solidFill>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Kích thước file</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0.003 MB</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400" dirty="0">
                          <a:solidFill>
                            <a:srgbClr val="C2553D"/>
                          </a:solidFill>
                          <a:latin typeface="Calibri" pitchFamily="34" charset="0"/>
                          <a:ea typeface="Calibri" pitchFamily="34" charset="-122"/>
                          <a:cs typeface="Calibri" pitchFamily="34" charset="-120"/>
                        </a:rPr>
                        <a:t>41.5 MB</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E3DE"/>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1.5 MB</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r h="512064">
                <a:tc>
                  <a:txBody>
                    <a:bodyPr/>
                    <a:lstStyle/>
                    <a:p>
                      <a:pPr indent="0" marL="0">
                        <a:buNone/>
                      </a:pPr>
                      <a:r>
                        <a:rPr lang="en-US" sz="1400" b="1" dirty="0">
                          <a:solidFill>
                            <a:srgbClr val="0E3B3A"/>
                          </a:solidFill>
                          <a:latin typeface="Calibri" pitchFamily="34" charset="0"/>
                          <a:ea typeface="Calibri" pitchFamily="34" charset="-122"/>
                          <a:cs typeface="Calibri" pitchFamily="34" charset="-120"/>
                        </a:rPr>
                        <a:t>Khả năng giải thích</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EDF3F2"/>
                    </a:solidFill>
                  </a:tcPr>
                </a:tc>
                <a:tc>
                  <a:txBody>
                    <a:bodyPr/>
                    <a:lstStyle/>
                    <a:p>
                      <a:pPr algn="ctr" indent="0" marL="0">
                        <a:buNone/>
                      </a:pPr>
                      <a:r>
                        <a:rPr lang="en-US" sz="1400" b="1" dirty="0">
                          <a:solidFill>
                            <a:srgbClr val="0F6E68"/>
                          </a:solidFill>
                          <a:latin typeface="Calibri" pitchFamily="34" charset="0"/>
                          <a:ea typeface="Calibri" pitchFamily="34" charset="-122"/>
                          <a:cs typeface="Calibri" pitchFamily="34" charset="-120"/>
                        </a:rPr>
                        <a:t>Cao — hệ số có dấu</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c>
                  <a:txBody>
                    <a:bodyPr/>
                    <a:lstStyle/>
                    <a:p>
                      <a:pPr algn="ctr" indent="0" marL="0">
                        <a:buNone/>
                      </a:pPr>
                      <a:r>
                        <a:rPr lang="en-US" sz="1400" dirty="0">
                          <a:solidFill>
                            <a:srgbClr val="1B2326"/>
                          </a:solidFill>
                          <a:latin typeface="Calibri" pitchFamily="34" charset="0"/>
                          <a:ea typeface="Calibri" pitchFamily="34" charset="-122"/>
                          <a:cs typeface="Calibri" pitchFamily="34" charset="-120"/>
                        </a:rPr>
                        <a:t>Trung bình — feature importance</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400" dirty="0">
                          <a:solidFill>
                            <a:srgbClr val="C2553D"/>
                          </a:solidFill>
                          <a:latin typeface="Calibri" pitchFamily="34" charset="0"/>
                          <a:ea typeface="Calibri" pitchFamily="34" charset="-122"/>
                          <a:cs typeface="Calibri" pitchFamily="34" charset="-120"/>
                        </a:rPr>
                        <a:t>Thấp — support vectors</a:t>
                      </a:r>
                      <a:endParaRPr lang="en-US" sz="140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7E3DE"/>
                    </a:solidFill>
                  </a:tcPr>
                </a:tc>
              </a:tr>
            </a:tbl>
          </a:graphicData>
        </a:graphic>
      </p:graphicFrame>
      <p:sp>
        <p:nvSpPr>
          <p:cNvPr id="5" name="Shape 1"/>
          <p:cNvSpPr/>
          <p:nvPr/>
        </p:nvSpPr>
        <p:spPr>
          <a:xfrm>
            <a:off x="548640" y="5715000"/>
            <a:ext cx="274320" cy="274320"/>
          </a:xfrm>
          <a:prstGeom prst="rect">
            <a:avLst/>
          </a:prstGeom>
          <a:solidFill>
            <a:srgbClr val="DCEDEA"/>
          </a:solidFill>
          <a:ln w="12700">
            <a:solidFill>
              <a:srgbClr val="C8D3D1"/>
            </a:solidFill>
            <a:prstDash val="solid"/>
          </a:ln>
        </p:spPr>
      </p:sp>
      <p:sp>
        <p:nvSpPr>
          <p:cNvPr id="6" name="Text 2"/>
          <p:cNvSpPr txBox="1"/>
          <p:nvPr/>
        </p:nvSpPr>
        <p:spPr>
          <a:xfrm>
            <a:off x="914400" y="5715000"/>
            <a:ext cx="1097280" cy="274320"/>
          </a:xfrm>
          <a:prstGeom prst="rect">
            <a:avLst/>
          </a:prstGeom>
          <a:noFill/>
          <a:ln/>
        </p:spPr>
        <p:txBody>
          <a:bodyPr wrap="square" lIns="0" tIns="0" rIns="0" bIns="0" rtlCol="0" anchor="ctr"/>
          <a:lstStyle/>
          <a:p>
            <a:pPr indent="0" marL="0">
              <a:buNone/>
            </a:pPr>
            <a:r>
              <a:rPr lang="en-US" sz="1200" dirty="0">
                <a:solidFill>
                  <a:srgbClr val="3A4644"/>
                </a:solidFill>
                <a:latin typeface="Calibri" pitchFamily="34" charset="0"/>
                <a:ea typeface="Calibri" pitchFamily="34" charset="-122"/>
                <a:cs typeface="Calibri" pitchFamily="34" charset="-120"/>
              </a:rPr>
              <a:t>Tốt nhất</a:t>
            </a:r>
            <a:endParaRPr lang="en-US" sz="1200" dirty="0"/>
          </a:p>
        </p:txBody>
      </p:sp>
      <p:sp>
        <p:nvSpPr>
          <p:cNvPr id="7" name="Shape 3"/>
          <p:cNvSpPr/>
          <p:nvPr/>
        </p:nvSpPr>
        <p:spPr>
          <a:xfrm>
            <a:off x="2103120" y="5715000"/>
            <a:ext cx="274320" cy="274320"/>
          </a:xfrm>
          <a:prstGeom prst="rect">
            <a:avLst/>
          </a:prstGeom>
          <a:solidFill>
            <a:srgbClr val="F7E3DE"/>
          </a:solidFill>
          <a:ln w="12700">
            <a:solidFill>
              <a:srgbClr val="C8D3D1"/>
            </a:solidFill>
            <a:prstDash val="solid"/>
          </a:ln>
        </p:spPr>
      </p:sp>
      <p:sp>
        <p:nvSpPr>
          <p:cNvPr id="8" name="Text 4"/>
          <p:cNvSpPr txBox="1"/>
          <p:nvPr/>
        </p:nvSpPr>
        <p:spPr>
          <a:xfrm>
            <a:off x="2468880" y="5715000"/>
            <a:ext cx="1097280" cy="274320"/>
          </a:xfrm>
          <a:prstGeom prst="rect">
            <a:avLst/>
          </a:prstGeom>
          <a:noFill/>
          <a:ln/>
        </p:spPr>
        <p:txBody>
          <a:bodyPr wrap="square" lIns="0" tIns="0" rIns="0" bIns="0" rtlCol="0" anchor="ctr"/>
          <a:lstStyle/>
          <a:p>
            <a:pPr indent="0" marL="0">
              <a:buNone/>
            </a:pPr>
            <a:r>
              <a:rPr lang="en-US" sz="1200" dirty="0">
                <a:solidFill>
                  <a:srgbClr val="3A4644"/>
                </a:solidFill>
                <a:latin typeface="Calibri" pitchFamily="34" charset="0"/>
                <a:ea typeface="Calibri" pitchFamily="34" charset="-122"/>
                <a:cs typeface="Calibri" pitchFamily="34" charset="-120"/>
              </a:rPr>
              <a:t>Kém nhất</a:t>
            </a:r>
            <a:endParaRPr lang="en-US" sz="1200" dirty="0"/>
          </a:p>
        </p:txBody>
      </p:sp>
      <p:sp>
        <p:nvSpPr>
          <p:cNvPr id="9" name="Text 5"/>
          <p:cNvSpPr txBox="1"/>
          <p:nvPr/>
        </p:nvSpPr>
        <p:spPr>
          <a:xfrm>
            <a:off x="3840480" y="5669280"/>
            <a:ext cx="7772400" cy="365760"/>
          </a:xfrm>
          <a:prstGeom prst="rect">
            <a:avLst/>
          </a:prstGeom>
          <a:noFill/>
          <a:ln/>
        </p:spPr>
        <p:txBody>
          <a:bodyPr wrap="square" lIns="0" tIns="0" rIns="0" bIns="0" rtlCol="0" anchor="ctr"/>
          <a:lstStyle/>
          <a:p>
            <a:pPr algn="r" indent="0" marL="0">
              <a:buNone/>
            </a:pPr>
            <a:r>
              <a:rPr lang="en-US" sz="1400" b="1" dirty="0">
                <a:solidFill>
                  <a:srgbClr val="0E3B3A"/>
                </a:solidFill>
                <a:latin typeface="Calibri" pitchFamily="34" charset="0"/>
                <a:ea typeface="Calibri" pitchFamily="34" charset="-122"/>
                <a:cs typeface="Calibri" pitchFamily="34" charset="-120"/>
              </a:rPr>
              <a:t>Bối cảnh: chấm điểm danh sách gọi theo lô → ưu tiên Macro-F1 và Recall hơn độ trễ 1 mẫu</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Mổ xẻ ca sai: lỗi đến từ dữ liệu, không từ thuật toán</a:t>
            </a:r>
            <a:endParaRPr lang="en-US" sz="3000" dirty="0"/>
          </a:p>
        </p:txBody>
      </p:sp>
      <p:sp>
        <p:nvSpPr>
          <p:cNvPr id="4" name="Shape 1"/>
          <p:cNvSpPr/>
          <p:nvPr/>
        </p:nvSpPr>
        <p:spPr>
          <a:xfrm>
            <a:off x="548640" y="1417320"/>
            <a:ext cx="4846320" cy="1417320"/>
          </a:xfrm>
          <a:prstGeom prst="roundRect">
            <a:avLst>
              <a:gd name="adj" fmla="val 5161"/>
            </a:avLst>
          </a:prstGeom>
          <a:solidFill>
            <a:srgbClr val="EDF3F2"/>
          </a:solidFill>
          <a:ln w="12700">
            <a:solidFill>
              <a:srgbClr val="EDF3F2"/>
            </a:solidFill>
            <a:prstDash val="solid"/>
          </a:ln>
        </p:spPr>
      </p:sp>
      <p:sp>
        <p:nvSpPr>
          <p:cNvPr id="5" name="Text 2"/>
          <p:cNvSpPr txBox="1"/>
          <p:nvPr/>
        </p:nvSpPr>
        <p:spPr>
          <a:xfrm>
            <a:off x="777240" y="1417320"/>
            <a:ext cx="1600200" cy="1417320"/>
          </a:xfrm>
          <a:prstGeom prst="rect">
            <a:avLst/>
          </a:prstGeom>
          <a:noFill/>
          <a:ln/>
        </p:spPr>
        <p:txBody>
          <a:bodyPr wrap="square" lIns="0" tIns="0" rIns="0" bIns="0" rtlCol="0" anchor="ctr"/>
          <a:lstStyle/>
          <a:p>
            <a:pPr indent="0" marL="0">
              <a:buNone/>
            </a:pPr>
            <a:r>
              <a:rPr lang="en-US" sz="4000" b="1" dirty="0">
                <a:solidFill>
                  <a:srgbClr val="C2553D"/>
                </a:solidFill>
                <a:latin typeface="Cambria" pitchFamily="34" charset="0"/>
                <a:ea typeface="Cambria" pitchFamily="34" charset="-122"/>
                <a:cs typeface="Cambria" pitchFamily="34" charset="-120"/>
              </a:rPr>
              <a:t>65%</a:t>
            </a:r>
            <a:endParaRPr lang="en-US" sz="4000" dirty="0"/>
          </a:p>
        </p:txBody>
      </p:sp>
      <p:sp>
        <p:nvSpPr>
          <p:cNvPr id="6" name="Text 3"/>
          <p:cNvSpPr txBox="1"/>
          <p:nvPr/>
        </p:nvSpPr>
        <p:spPr>
          <a:xfrm>
            <a:off x="2423160" y="1417320"/>
            <a:ext cx="2834640" cy="1417320"/>
          </a:xfrm>
          <a:prstGeom prst="rect">
            <a:avLst/>
          </a:prstGeom>
          <a:noFill/>
          <a:ln/>
        </p:spPr>
        <p:txBody>
          <a:bodyPr wrap="square" lIns="0" tIns="0" rIns="0" bIns="0" rtlCol="0" anchor="ctr"/>
          <a:lstStyle/>
          <a:p>
            <a:pPr indent="0" marL="0">
              <a:buNone/>
            </a:pPr>
            <a:r>
              <a:rPr lang="en-US" sz="1400" dirty="0">
                <a:solidFill>
                  <a:srgbClr val="2C3836"/>
                </a:solidFill>
                <a:latin typeface="Calibri" pitchFamily="34" charset="0"/>
                <a:ea typeface="Calibri" pitchFamily="34" charset="-122"/>
                <a:cs typeface="Calibri" pitchFamily="34" charset="-120"/>
              </a:rPr>
              <a:t>lỗi là FN — bỏ sót khách sẽ đăng ký</a:t>
            </a:r>
            <a:endParaRPr lang="en-US" sz="1400" dirty="0"/>
          </a:p>
        </p:txBody>
      </p:sp>
      <p:sp>
        <p:nvSpPr>
          <p:cNvPr id="7" name="Shape 4"/>
          <p:cNvSpPr/>
          <p:nvPr/>
        </p:nvSpPr>
        <p:spPr>
          <a:xfrm>
            <a:off x="548640" y="2990088"/>
            <a:ext cx="4846320" cy="1417320"/>
          </a:xfrm>
          <a:prstGeom prst="roundRect">
            <a:avLst>
              <a:gd name="adj" fmla="val 5161"/>
            </a:avLst>
          </a:prstGeom>
          <a:solidFill>
            <a:srgbClr val="EDF3F2"/>
          </a:solidFill>
          <a:ln w="12700">
            <a:solidFill>
              <a:srgbClr val="EDF3F2"/>
            </a:solidFill>
            <a:prstDash val="solid"/>
          </a:ln>
        </p:spPr>
      </p:sp>
      <p:sp>
        <p:nvSpPr>
          <p:cNvPr id="8" name="Text 5"/>
          <p:cNvSpPr txBox="1"/>
          <p:nvPr/>
        </p:nvSpPr>
        <p:spPr>
          <a:xfrm>
            <a:off x="777240" y="2990088"/>
            <a:ext cx="1600200" cy="1417320"/>
          </a:xfrm>
          <a:prstGeom prst="rect">
            <a:avLst/>
          </a:prstGeom>
          <a:noFill/>
          <a:ln/>
        </p:spPr>
        <p:txBody>
          <a:bodyPr wrap="square" lIns="0" tIns="0" rIns="0" bIns="0" rtlCol="0" anchor="ctr"/>
          <a:lstStyle/>
          <a:p>
            <a:pPr indent="0" marL="0">
              <a:buNone/>
            </a:pPr>
            <a:r>
              <a:rPr lang="en-US" sz="4000" b="1" dirty="0">
                <a:solidFill>
                  <a:srgbClr val="0F6E68"/>
                </a:solidFill>
                <a:latin typeface="Cambria" pitchFamily="34" charset="0"/>
                <a:ea typeface="Cambria" pitchFamily="34" charset="-122"/>
                <a:cs typeface="Cambria" pitchFamily="34" charset="-120"/>
              </a:rPr>
              <a:t>72%</a:t>
            </a:r>
            <a:endParaRPr lang="en-US" sz="4000" dirty="0"/>
          </a:p>
        </p:txBody>
      </p:sp>
      <p:sp>
        <p:nvSpPr>
          <p:cNvPr id="9" name="Text 6"/>
          <p:cNvSpPr txBox="1"/>
          <p:nvPr/>
        </p:nvSpPr>
        <p:spPr>
          <a:xfrm>
            <a:off x="2423160" y="2990088"/>
            <a:ext cx="2834640" cy="1417320"/>
          </a:xfrm>
          <a:prstGeom prst="rect">
            <a:avLst/>
          </a:prstGeom>
          <a:noFill/>
          <a:ln/>
        </p:spPr>
        <p:txBody>
          <a:bodyPr wrap="square" lIns="0" tIns="0" rIns="0" bIns="0" rtlCol="0" anchor="ctr"/>
          <a:lstStyle/>
          <a:p>
            <a:pPr indent="0" marL="0">
              <a:buNone/>
            </a:pPr>
            <a:r>
              <a:rPr lang="en-US" sz="1400" dirty="0">
                <a:solidFill>
                  <a:srgbClr val="2C3836"/>
                </a:solidFill>
                <a:latin typeface="Calibri" pitchFamily="34" charset="0"/>
                <a:ea typeface="Calibri" pitchFamily="34" charset="-122"/>
                <a:cs typeface="Calibri" pitchFamily="34" charset="-120"/>
              </a:rPr>
              <a:t>lỗi của RF cũng là lỗi của cả 3 mô hình (431/600)</a:t>
            </a:r>
            <a:endParaRPr lang="en-US" sz="1400" dirty="0"/>
          </a:p>
        </p:txBody>
      </p:sp>
      <p:sp>
        <p:nvSpPr>
          <p:cNvPr id="10" name="Shape 7"/>
          <p:cNvSpPr/>
          <p:nvPr/>
        </p:nvSpPr>
        <p:spPr>
          <a:xfrm>
            <a:off x="548640" y="4562856"/>
            <a:ext cx="4846320" cy="1417320"/>
          </a:xfrm>
          <a:prstGeom prst="roundRect">
            <a:avLst>
              <a:gd name="adj" fmla="val 5161"/>
            </a:avLst>
          </a:prstGeom>
          <a:solidFill>
            <a:srgbClr val="EDF3F2"/>
          </a:solidFill>
          <a:ln w="12700">
            <a:solidFill>
              <a:srgbClr val="EDF3F2"/>
            </a:solidFill>
            <a:prstDash val="solid"/>
          </a:ln>
        </p:spPr>
      </p:sp>
      <p:sp>
        <p:nvSpPr>
          <p:cNvPr id="11" name="Text 8"/>
          <p:cNvSpPr txBox="1"/>
          <p:nvPr/>
        </p:nvSpPr>
        <p:spPr>
          <a:xfrm>
            <a:off x="777240" y="4562856"/>
            <a:ext cx="1600200" cy="1417320"/>
          </a:xfrm>
          <a:prstGeom prst="rect">
            <a:avLst/>
          </a:prstGeom>
          <a:noFill/>
          <a:ln/>
        </p:spPr>
        <p:txBody>
          <a:bodyPr wrap="square" lIns="0" tIns="0" rIns="0" bIns="0" rtlCol="0" anchor="ctr"/>
          <a:lstStyle/>
          <a:p>
            <a:pPr indent="0" marL="0">
              <a:buNone/>
            </a:pPr>
            <a:r>
              <a:rPr lang="en-US" sz="4000" b="1" dirty="0">
                <a:solidFill>
                  <a:srgbClr val="5E7F9A"/>
                </a:solidFill>
                <a:latin typeface="Cambria" pitchFamily="34" charset="0"/>
                <a:ea typeface="Cambria" pitchFamily="34" charset="-122"/>
                <a:cs typeface="Cambria" pitchFamily="34" charset="-120"/>
              </a:rPr>
              <a:t>84%</a:t>
            </a:r>
            <a:endParaRPr lang="en-US" sz="4000" dirty="0"/>
          </a:p>
        </p:txBody>
      </p:sp>
      <p:sp>
        <p:nvSpPr>
          <p:cNvPr id="12" name="Text 9"/>
          <p:cNvSpPr txBox="1"/>
          <p:nvPr/>
        </p:nvSpPr>
        <p:spPr>
          <a:xfrm>
            <a:off x="2423160" y="4562856"/>
            <a:ext cx="2834640" cy="1417320"/>
          </a:xfrm>
          <a:prstGeom prst="rect">
            <a:avLst/>
          </a:prstGeom>
          <a:noFill/>
          <a:ln/>
        </p:spPr>
        <p:txBody>
          <a:bodyPr wrap="square" lIns="0" tIns="0" rIns="0" bIns="0" rtlCol="0" anchor="ctr"/>
          <a:lstStyle/>
          <a:p>
            <a:pPr indent="0" marL="0">
              <a:buNone/>
            </a:pPr>
            <a:r>
              <a:rPr lang="en-US" sz="1400" dirty="0">
                <a:solidFill>
                  <a:srgbClr val="2C3836"/>
                </a:solidFill>
                <a:latin typeface="Calibri" pitchFamily="34" charset="0"/>
                <a:ea typeface="Calibri" pitchFamily="34" charset="-122"/>
                <a:cs typeface="Calibri" pitchFamily="34" charset="-120"/>
              </a:rPr>
              <a:t>lỗi nằm ở vùng chồng lấn lớp: đa số 15 láng giềng Train mang nhãn ngược</a:t>
            </a:r>
            <a:endParaRPr lang="en-US" sz="1400" dirty="0"/>
          </a:p>
        </p:txBody>
      </p:sp>
      <p:graphicFrame>
        <p:nvGraphicFramePr>
          <p:cNvPr id="13" name="Chart 0" descr=""/>
          <p:cNvGraphicFramePr/>
          <p:nvPr/>
        </p:nvGraphicFramePr>
        <p:xfrm>
          <a:off x="5760720" y="137160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14" name="Shape 10"/>
          <p:cNvSpPr/>
          <p:nvPr/>
        </p:nvSpPr>
        <p:spPr>
          <a:xfrm>
            <a:off x="5760720" y="5074920"/>
            <a:ext cx="5852160" cy="1051560"/>
          </a:xfrm>
          <a:prstGeom prst="roundRect">
            <a:avLst>
              <a:gd name="adj" fmla="val 6957"/>
            </a:avLst>
          </a:prstGeom>
          <a:solidFill>
            <a:srgbClr val="0E3B3A"/>
          </a:solidFill>
          <a:ln w="12700">
            <a:solidFill>
              <a:srgbClr val="0E3B3A"/>
            </a:solidFill>
            <a:prstDash val="solid"/>
          </a:ln>
        </p:spPr>
      </p:sp>
      <p:sp>
        <p:nvSpPr>
          <p:cNvPr id="15" name="Text 11"/>
          <p:cNvSpPr txBox="1"/>
          <p:nvPr/>
        </p:nvSpPr>
        <p:spPr>
          <a:xfrm>
            <a:off x="5943600" y="5074920"/>
            <a:ext cx="5486400" cy="1051560"/>
          </a:xfrm>
          <a:prstGeom prst="rect">
            <a:avLst/>
          </a:prstGeom>
          <a:noFill/>
          <a:ln/>
        </p:spPr>
        <p:txBody>
          <a:bodyPr wrap="square" lIns="0" tIns="0" rIns="0" bIns="0" rtlCol="0" anchor="ctr"/>
          <a:lstStyle/>
          <a:p>
            <a:pPr indent="0" marL="0">
              <a:buNone/>
            </a:pPr>
            <a:r>
              <a:rPr lang="en-US" sz="1400" b="1" dirty="0">
                <a:solidFill>
                  <a:srgbClr val="E0A526"/>
                </a:solidFill>
                <a:latin typeface="Calibri" pitchFamily="34" charset="0"/>
                <a:ea typeface="Calibri" pitchFamily="34" charset="-122"/>
                <a:cs typeface="Calibri" pitchFamily="34" charset="-120"/>
              </a:rPr>
              <a:t>FN = khách được thuyết phục trong cuộc gọi dài. </a:t>
            </a:r>
            <a:pPr indent="0" marL="0">
              <a:buNone/>
            </a:pPr>
            <a:r>
              <a:rPr lang="en-US" sz="1400" dirty="0">
                <a:solidFill>
                  <a:srgbClr val="FFFFFF"/>
                </a:solidFill>
                <a:latin typeface="Calibri" pitchFamily="34" charset="0"/>
                <a:ea typeface="Calibri" pitchFamily="34" charset="-122"/>
                <a:cs typeface="Calibri" pitchFamily="34" charset="-120"/>
              </a:rPr>
              <a:t>Mô hình trước cuộc gọi không thể biết → lỗi không thể khử.</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Điểm mù dữ liệu và giới hạn cấu trúc mô hình</a:t>
            </a:r>
            <a:endParaRPr lang="en-US" sz="3000" dirty="0"/>
          </a:p>
        </p:txBody>
      </p:sp>
      <p:graphicFrame>
        <p:nvGraphicFramePr>
          <p:cNvPr id="4" name="Chart 0" descr=""/>
          <p:cNvGraphicFramePr/>
          <p:nvPr/>
        </p:nvGraphicFramePr>
        <p:xfrm>
          <a:off x="548640" y="137160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5166360"/>
            <a:ext cx="5486400" cy="960120"/>
          </a:xfrm>
          <a:prstGeom prst="roundRect">
            <a:avLst>
              <a:gd name="adj" fmla="val 7619"/>
            </a:avLst>
          </a:prstGeom>
          <a:solidFill>
            <a:srgbClr val="EDF3F2"/>
          </a:solidFill>
          <a:ln w="12700">
            <a:solidFill>
              <a:srgbClr val="EDF3F2"/>
            </a:solidFill>
            <a:prstDash val="solid"/>
          </a:ln>
        </p:spPr>
      </p:sp>
      <p:sp>
        <p:nvSpPr>
          <p:cNvPr id="6" name="Text 2"/>
          <p:cNvSpPr txBox="1"/>
          <p:nvPr/>
        </p:nvSpPr>
        <p:spPr>
          <a:xfrm>
            <a:off x="731520" y="5166360"/>
            <a:ext cx="5120640" cy="960120"/>
          </a:xfrm>
          <a:prstGeom prst="rect">
            <a:avLst/>
          </a:prstGeom>
          <a:noFill/>
          <a:ln/>
        </p:spPr>
        <p:txBody>
          <a:bodyPr wrap="square" lIns="0" tIns="0" rIns="0" bIns="0" rtlCol="0" anchor="ctr"/>
          <a:lstStyle/>
          <a:p>
            <a:pPr indent="0" marL="0">
              <a:buNone/>
            </a:pPr>
            <a:r>
              <a:rPr lang="en-US" sz="1350" b="1" dirty="0">
                <a:solidFill>
                  <a:srgbClr val="C2553D"/>
                </a:solidFill>
                <a:latin typeface="Calibri" pitchFamily="34" charset="0"/>
                <a:ea typeface="Calibri" pitchFamily="34" charset="-122"/>
                <a:cs typeface="Calibri" pitchFamily="34" charset="-120"/>
              </a:rPr>
              <a:t>contact = unknown: </a:t>
            </a:r>
            <a:pPr indent="0" marL="0">
              <a:buNone/>
            </a:pPr>
            <a:r>
              <a:rPr lang="en-US" sz="1350" dirty="0">
                <a:solidFill>
                  <a:srgbClr val="2C3836"/>
                </a:solidFill>
                <a:latin typeface="Calibri" pitchFamily="34" charset="0"/>
                <a:ea typeface="Calibri" pitchFamily="34" charset="-122"/>
                <a:cs typeface="Calibri" pitchFamily="34" charset="-120"/>
              </a:rPr>
              <a:t>RF bắt 15/107 khách 'yes', Logistic chỉ bắt 2/107 — điền khuyết tạo thiên lệch hệ thống</a:t>
            </a:r>
            <a:endParaRPr lang="en-US" sz="1350" dirty="0"/>
          </a:p>
        </p:txBody>
      </p:sp>
      <p:sp>
        <p:nvSpPr>
          <p:cNvPr id="7" name="Text 3"/>
          <p:cNvSpPr txBox="1"/>
          <p:nvPr/>
        </p:nvSpPr>
        <p:spPr>
          <a:xfrm>
            <a:off x="6400800" y="1371600"/>
            <a:ext cx="5212080" cy="411480"/>
          </a:xfrm>
          <a:prstGeom prst="rect">
            <a:avLst/>
          </a:prstGeom>
          <a:noFill/>
          <a:ln/>
        </p:spPr>
        <p:txBody>
          <a:bodyPr wrap="square" lIns="0" tIns="0" rIns="0" bIns="0" rtlCol="0" anchor="t"/>
          <a:lstStyle/>
          <a:p>
            <a:pPr indent="0" marL="0">
              <a:buNone/>
            </a:pPr>
            <a:r>
              <a:rPr lang="en-US" sz="1800" b="1" dirty="0">
                <a:solidFill>
                  <a:srgbClr val="0E3B3A"/>
                </a:solidFill>
                <a:latin typeface="Cambria" pitchFamily="34" charset="0"/>
                <a:ea typeface="Cambria" pitchFamily="34" charset="-122"/>
                <a:cs typeface="Cambria" pitchFamily="34" charset="-120"/>
              </a:rPr>
              <a:t>So sánh đối đầu (McNemar)</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0" y="1828800"/>
          <a:ext cx="5212080" cy="914400"/>
        </p:xfrm>
        <a:graphic>
          <a:graphicData uri="http://schemas.openxmlformats.org/drawingml/2006/table">
            <a:tbl>
              <a:tblPr/>
              <a:tblGrid>
                <a:gridCol w="1600200"/>
                <a:gridCol w="1234440"/>
                <a:gridCol w="1234440"/>
                <a:gridCol w="114300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Cặp</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Chỉ A đúng</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Chỉ B đúng</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p</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0E3B3A"/>
                    </a:solidFill>
                  </a:tcPr>
                </a:tc>
              </a:tr>
              <a:tr h="457200">
                <a:tc>
                  <a:txBody>
                    <a:bodyPr/>
                    <a:lstStyle/>
                    <a:p>
                      <a:pPr indent="0" marL="0">
                        <a:buNone/>
                      </a:pPr>
                      <a:r>
                        <a:rPr lang="en-US" sz="1350" b="1" dirty="0">
                          <a:solidFill>
                            <a:srgbClr val="1B2326"/>
                          </a:solidFill>
                          <a:latin typeface="Calibri" pitchFamily="34" charset="0"/>
                          <a:ea typeface="Calibri" pitchFamily="34" charset="-122"/>
                          <a:cs typeface="Calibri" pitchFamily="34" charset="-120"/>
                        </a:rPr>
                        <a:t>RF vs Logistic</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50" b="1" dirty="0">
                          <a:solidFill>
                            <a:srgbClr val="0F6E68"/>
                          </a:solidFill>
                          <a:latin typeface="Calibri" pitchFamily="34" charset="0"/>
                          <a:ea typeface="Calibri" pitchFamily="34" charset="-122"/>
                          <a:cs typeface="Calibri" pitchFamily="34" charset="-120"/>
                        </a:rPr>
                        <a:t>174</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50" dirty="0">
                          <a:solidFill>
                            <a:srgbClr val="1B2326"/>
                          </a:solidFill>
                          <a:latin typeface="Calibri" pitchFamily="34" charset="0"/>
                          <a:ea typeface="Calibri" pitchFamily="34" charset="-122"/>
                          <a:cs typeface="Calibri" pitchFamily="34" charset="-120"/>
                        </a:rPr>
                        <a:t>137</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50" b="1" dirty="0">
                          <a:solidFill>
                            <a:srgbClr val="0F6E68"/>
                          </a:solidFill>
                          <a:latin typeface="Calibri" pitchFamily="34" charset="0"/>
                          <a:ea typeface="Calibri" pitchFamily="34" charset="-122"/>
                          <a:cs typeface="Calibri" pitchFamily="34" charset="-120"/>
                        </a:rPr>
                        <a:t>0.041 ✓</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DCEDEA"/>
                    </a:solidFill>
                  </a:tcPr>
                </a:tc>
              </a:tr>
              <a:tr h="457200">
                <a:tc>
                  <a:txBody>
                    <a:bodyPr/>
                    <a:lstStyle/>
                    <a:p>
                      <a:pPr indent="0" marL="0">
                        <a:buNone/>
                      </a:pPr>
                      <a:r>
                        <a:rPr lang="en-US" sz="1350" b="1" dirty="0">
                          <a:solidFill>
                            <a:srgbClr val="1B2326"/>
                          </a:solidFill>
                          <a:latin typeface="Calibri" pitchFamily="34" charset="0"/>
                          <a:ea typeface="Calibri" pitchFamily="34" charset="-122"/>
                          <a:cs typeface="Calibri" pitchFamily="34" charset="-120"/>
                        </a:rPr>
                        <a:t>RF vs SVC</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50" dirty="0">
                          <a:solidFill>
                            <a:srgbClr val="1B2326"/>
                          </a:solidFill>
                          <a:latin typeface="Calibri" pitchFamily="34" charset="0"/>
                          <a:ea typeface="Calibri" pitchFamily="34" charset="-122"/>
                          <a:cs typeface="Calibri" pitchFamily="34" charset="-120"/>
                        </a:rPr>
                        <a:t>113</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50" dirty="0">
                          <a:solidFill>
                            <a:srgbClr val="1B2326"/>
                          </a:solidFill>
                          <a:latin typeface="Calibri" pitchFamily="34" charset="0"/>
                          <a:ea typeface="Calibri" pitchFamily="34" charset="-122"/>
                          <a:cs typeface="Calibri" pitchFamily="34" charset="-120"/>
                        </a:rPr>
                        <a:t>103</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c>
                  <a:txBody>
                    <a:bodyPr/>
                    <a:lstStyle/>
                    <a:p>
                      <a:pPr algn="ctr" indent="0" marL="0">
                        <a:buNone/>
                      </a:pPr>
                      <a:r>
                        <a:rPr lang="en-US" sz="1350" dirty="0">
                          <a:solidFill>
                            <a:srgbClr val="C2553D"/>
                          </a:solidFill>
                          <a:latin typeface="Calibri" pitchFamily="34" charset="0"/>
                          <a:ea typeface="Calibri" pitchFamily="34" charset="-122"/>
                          <a:cs typeface="Calibri" pitchFamily="34" charset="-120"/>
                        </a:rPr>
                        <a:t>0.54 ✗</a:t>
                      </a:r>
                      <a:endParaRPr lang="en-US" sz="1350" dirty="0">
                        <a:latin typeface="Calibri" charset="0"/>
                        <a:ea typeface="Calibri" charset="0"/>
                        <a:cs typeface="Calibri" charset="0"/>
                      </a:endParaRPr>
                    </a:p>
                  </a:txBody>
                  <a:tcPr marL="91440" marR="91440" marT="45720" marB="45720" anchor="ctr">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tcPr>
                </a:tc>
              </a:tr>
            </a:tbl>
          </a:graphicData>
        </a:graphic>
      </p:graphicFrame>
      <p:sp>
        <p:nvSpPr>
          <p:cNvPr id="9" name="Shape 4"/>
          <p:cNvSpPr/>
          <p:nvPr/>
        </p:nvSpPr>
        <p:spPr>
          <a:xfrm>
            <a:off x="6400800" y="3429000"/>
            <a:ext cx="5212080" cy="1234440"/>
          </a:xfrm>
          <a:prstGeom prst="roundRect">
            <a:avLst>
              <a:gd name="adj" fmla="val 5926"/>
            </a:avLst>
          </a:prstGeom>
          <a:solidFill>
            <a:srgbClr val="EDF3F2"/>
          </a:solidFill>
          <a:ln w="12700">
            <a:solidFill>
              <a:srgbClr val="EDF3F2"/>
            </a:solidFill>
            <a:prstDash val="solid"/>
          </a:ln>
        </p:spPr>
      </p:sp>
      <p:sp>
        <p:nvSpPr>
          <p:cNvPr id="10" name="Shape 5"/>
          <p:cNvSpPr/>
          <p:nvPr/>
        </p:nvSpPr>
        <p:spPr>
          <a:xfrm>
            <a:off x="6583680" y="3749040"/>
            <a:ext cx="566928" cy="566928"/>
          </a:xfrm>
          <a:prstGeom prst="ellipse">
            <a:avLst/>
          </a:prstGeom>
          <a:solidFill>
            <a:srgbClr val="0F6E68"/>
          </a:solidFill>
          <a:ln w="12700">
            <a:solidFill>
              <a:srgbClr val="0F6E68"/>
            </a:solidFill>
            <a:prstDash val="solid"/>
          </a:ln>
        </p:spPr>
      </p:sp>
      <p:pic>
        <p:nvPicPr>
          <p:cNvPr id="11" name="Image 0" descr="preencoded.png">    </p:cNvPr>
          <p:cNvPicPr>
            <a:picLocks noChangeAspect="1"/>
          </p:cNvPicPr>
          <p:nvPr/>
        </p:nvPicPr>
        <p:blipFill>
          <a:blip r:embed="rId2"/>
          <a:stretch>
            <a:fillRect/>
          </a:stretch>
        </p:blipFill>
        <p:spPr>
          <a:xfrm>
            <a:off x="6725412" y="3890772"/>
            <a:ext cx="283464" cy="283464"/>
          </a:xfrm>
          <a:prstGeom prst="rect">
            <a:avLst/>
          </a:prstGeom>
        </p:spPr>
      </p:pic>
      <p:sp>
        <p:nvSpPr>
          <p:cNvPr id="12" name="Text 6"/>
          <p:cNvSpPr txBox="1"/>
          <p:nvPr/>
        </p:nvSpPr>
        <p:spPr>
          <a:xfrm>
            <a:off x="7315200" y="3538728"/>
            <a:ext cx="416052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Tuyến tính: giả thiết cộng tính</a:t>
            </a:r>
            <a:endParaRPr lang="en-US" sz="1500" dirty="0"/>
          </a:p>
        </p:txBody>
      </p:sp>
      <p:sp>
        <p:nvSpPr>
          <p:cNvPr id="13" name="Text 7"/>
          <p:cNvSpPr txBox="1"/>
          <p:nvPr/>
        </p:nvSpPr>
        <p:spPr>
          <a:xfrm>
            <a:off x="7315200" y="3904488"/>
            <a:ext cx="416052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Hệ số contact_missing −0.40 luôn kéo xác suất xuống, không biểu diễn được tương tác</a:t>
            </a:r>
            <a:endParaRPr lang="en-US" sz="1300" dirty="0"/>
          </a:p>
        </p:txBody>
      </p:sp>
      <p:sp>
        <p:nvSpPr>
          <p:cNvPr id="14" name="Shape 8"/>
          <p:cNvSpPr/>
          <p:nvPr/>
        </p:nvSpPr>
        <p:spPr>
          <a:xfrm>
            <a:off x="6400800" y="4800600"/>
            <a:ext cx="5212080" cy="1234440"/>
          </a:xfrm>
          <a:prstGeom prst="roundRect">
            <a:avLst>
              <a:gd name="adj" fmla="val 5926"/>
            </a:avLst>
          </a:prstGeom>
          <a:solidFill>
            <a:srgbClr val="EDF3F2"/>
          </a:solidFill>
          <a:ln w="12700">
            <a:solidFill>
              <a:srgbClr val="EDF3F2"/>
            </a:solidFill>
            <a:prstDash val="solid"/>
          </a:ln>
        </p:spPr>
      </p:sp>
      <p:sp>
        <p:nvSpPr>
          <p:cNvPr id="15" name="Shape 9"/>
          <p:cNvSpPr/>
          <p:nvPr/>
        </p:nvSpPr>
        <p:spPr>
          <a:xfrm>
            <a:off x="6583680" y="5120640"/>
            <a:ext cx="566928" cy="566928"/>
          </a:xfrm>
          <a:prstGeom prst="ellipse">
            <a:avLst/>
          </a:prstGeom>
          <a:solidFill>
            <a:srgbClr val="E0A526"/>
          </a:solidFill>
          <a:ln w="12700">
            <a:solidFill>
              <a:srgbClr val="E0A526"/>
            </a:solidFill>
            <a:prstDash val="solid"/>
          </a:ln>
        </p:spPr>
      </p:sp>
      <p:pic>
        <p:nvPicPr>
          <p:cNvPr id="16" name="Image 1" descr="preencoded.png">    </p:cNvPr>
          <p:cNvPicPr>
            <a:picLocks noChangeAspect="1"/>
          </p:cNvPicPr>
          <p:nvPr/>
        </p:nvPicPr>
        <p:blipFill>
          <a:blip r:embed="rId3"/>
          <a:stretch>
            <a:fillRect/>
          </a:stretch>
        </p:blipFill>
        <p:spPr>
          <a:xfrm>
            <a:off x="6725412" y="5262372"/>
            <a:ext cx="283464" cy="283464"/>
          </a:xfrm>
          <a:prstGeom prst="rect">
            <a:avLst/>
          </a:prstGeom>
        </p:spPr>
      </p:pic>
      <p:sp>
        <p:nvSpPr>
          <p:cNvPr id="17" name="Text 10"/>
          <p:cNvSpPr txBox="1"/>
          <p:nvPr/>
        </p:nvSpPr>
        <p:spPr>
          <a:xfrm>
            <a:off x="7315200" y="4910328"/>
            <a:ext cx="416052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Cây: phương sai cao</a:t>
            </a:r>
            <a:endParaRPr lang="en-US" sz="1500" dirty="0"/>
          </a:p>
        </p:txBody>
      </p:sp>
      <p:sp>
        <p:nvSpPr>
          <p:cNvPr id="18" name="Text 11"/>
          <p:cNvSpPr txBox="1"/>
          <p:nvPr/>
        </p:nvSpPr>
        <p:spPr>
          <a:xfrm>
            <a:off x="7315200" y="5276088"/>
            <a:ext cx="416052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Sâu 20 tầng → học thuộc vùng thưa (khách đã từng liên hệ, ~25% dữ liệu)</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0E3B3A"/>
                </a:solidFill>
                <a:latin typeface="Cambria" pitchFamily="34" charset="0"/>
                <a:ea typeface="Cambria" pitchFamily="34" charset="-122"/>
                <a:cs typeface="Cambria" pitchFamily="34" charset="-120"/>
              </a:rPr>
              <a:t>Champion: Random Forest (Tuned)</a:t>
            </a:r>
            <a:endParaRPr lang="en-US" sz="3000" dirty="0"/>
          </a:p>
        </p:txBody>
      </p:sp>
      <p:sp>
        <p:nvSpPr>
          <p:cNvPr id="4" name="Shape 1"/>
          <p:cNvSpPr/>
          <p:nvPr/>
        </p:nvSpPr>
        <p:spPr>
          <a:xfrm>
            <a:off x="548640" y="1417320"/>
            <a:ext cx="5486400" cy="4709160"/>
          </a:xfrm>
          <a:prstGeom prst="roundRect">
            <a:avLst>
              <a:gd name="adj" fmla="val 1553"/>
            </a:avLst>
          </a:prstGeom>
          <a:solidFill>
            <a:srgbClr val="0E3B3A"/>
          </a:solidFill>
          <a:ln w="12700">
            <a:solidFill>
              <a:srgbClr val="0E3B3A"/>
            </a:solidFill>
            <a:prstDash val="solid"/>
          </a:ln>
        </p:spPr>
      </p:sp>
      <p:sp>
        <p:nvSpPr>
          <p:cNvPr id="5" name="Shape 2"/>
          <p:cNvSpPr/>
          <p:nvPr/>
        </p:nvSpPr>
        <p:spPr>
          <a:xfrm>
            <a:off x="822960" y="1691640"/>
            <a:ext cx="731520" cy="7315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7" name="Text 3"/>
          <p:cNvSpPr txBox="1"/>
          <p:nvPr/>
        </p:nvSpPr>
        <p:spPr>
          <a:xfrm>
            <a:off x="1737360" y="1783080"/>
            <a:ext cx="411480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Bằng chứng trên tập Test</a:t>
            </a:r>
            <a:endParaRPr lang="en-US" sz="2000" dirty="0"/>
          </a:p>
        </p:txBody>
      </p:sp>
      <p:sp>
        <p:nvSpPr>
          <p:cNvPr id="8" name="Text 4"/>
          <p:cNvSpPr txBox="1"/>
          <p:nvPr/>
        </p:nvSpPr>
        <p:spPr>
          <a:xfrm>
            <a:off x="822960" y="2743200"/>
            <a:ext cx="2377440" cy="731520"/>
          </a:xfrm>
          <a:prstGeom prst="rect">
            <a:avLst/>
          </a:prstGeom>
          <a:noFill/>
          <a:ln/>
        </p:spPr>
        <p:txBody>
          <a:bodyPr wrap="square" lIns="0" tIns="0" rIns="0" bIns="0" rtlCol="0" anchor="t"/>
          <a:lstStyle/>
          <a:p>
            <a:pPr indent="0" marL="0">
              <a:buNone/>
            </a:pPr>
            <a:r>
              <a:rPr lang="en-US" sz="3400" b="1" dirty="0">
                <a:solidFill>
                  <a:srgbClr val="E0A526"/>
                </a:solidFill>
                <a:latin typeface="Cambria" pitchFamily="34" charset="0"/>
                <a:ea typeface="Cambria" pitchFamily="34" charset="-122"/>
                <a:cs typeface="Cambria" pitchFamily="34" charset="-120"/>
              </a:rPr>
              <a:t>0.7263</a:t>
            </a:r>
            <a:endParaRPr lang="en-US" sz="3400" dirty="0"/>
          </a:p>
        </p:txBody>
      </p:sp>
      <p:sp>
        <p:nvSpPr>
          <p:cNvPr id="9" name="Text 5"/>
          <p:cNvSpPr txBox="1"/>
          <p:nvPr/>
        </p:nvSpPr>
        <p:spPr>
          <a:xfrm>
            <a:off x="822960" y="3474720"/>
            <a:ext cx="2377440" cy="365760"/>
          </a:xfrm>
          <a:prstGeom prst="rect">
            <a:avLst/>
          </a:prstGeom>
          <a:noFill/>
          <a:ln/>
        </p:spPr>
        <p:txBody>
          <a:bodyPr wrap="square" lIns="0" tIns="0" rIns="0" bIns="0" rtlCol="0" anchor="t"/>
          <a:lstStyle/>
          <a:p>
            <a:pPr indent="0" marL="0">
              <a:buNone/>
            </a:pPr>
            <a:r>
              <a:rPr lang="en-US" sz="1400" dirty="0">
                <a:solidFill>
                  <a:srgbClr val="CFE3E0"/>
                </a:solidFill>
                <a:latin typeface="Calibri" pitchFamily="34" charset="0"/>
                <a:ea typeface="Calibri" pitchFamily="34" charset="-122"/>
                <a:cs typeface="Calibri" pitchFamily="34" charset="-120"/>
              </a:rPr>
              <a:t>Macro-F1 cao nhất</a:t>
            </a:r>
            <a:endParaRPr lang="en-US" sz="1400" dirty="0"/>
          </a:p>
        </p:txBody>
      </p:sp>
      <p:sp>
        <p:nvSpPr>
          <p:cNvPr id="10" name="Text 6"/>
          <p:cNvSpPr txBox="1"/>
          <p:nvPr/>
        </p:nvSpPr>
        <p:spPr>
          <a:xfrm>
            <a:off x="3383280" y="2743200"/>
            <a:ext cx="2377440" cy="731520"/>
          </a:xfrm>
          <a:prstGeom prst="rect">
            <a:avLst/>
          </a:prstGeom>
          <a:noFill/>
          <a:ln/>
        </p:spPr>
        <p:txBody>
          <a:bodyPr wrap="square" lIns="0" tIns="0" rIns="0" bIns="0" rtlCol="0" anchor="t"/>
          <a:lstStyle/>
          <a:p>
            <a:pPr indent="0" marL="0">
              <a:buNone/>
            </a:pPr>
            <a:r>
              <a:rPr lang="en-US" sz="3400" b="1" dirty="0">
                <a:solidFill>
                  <a:srgbClr val="E0A526"/>
                </a:solidFill>
                <a:latin typeface="Cambria" pitchFamily="34" charset="0"/>
                <a:ea typeface="Cambria" pitchFamily="34" charset="-122"/>
                <a:cs typeface="Cambria" pitchFamily="34" charset="-120"/>
              </a:rPr>
              <a:t>62.9%</a:t>
            </a:r>
            <a:endParaRPr lang="en-US" sz="3400" dirty="0"/>
          </a:p>
        </p:txBody>
      </p:sp>
      <p:sp>
        <p:nvSpPr>
          <p:cNvPr id="11" name="Text 7"/>
          <p:cNvSpPr txBox="1"/>
          <p:nvPr/>
        </p:nvSpPr>
        <p:spPr>
          <a:xfrm>
            <a:off x="3383280" y="3474720"/>
            <a:ext cx="2377440" cy="365760"/>
          </a:xfrm>
          <a:prstGeom prst="rect">
            <a:avLst/>
          </a:prstGeom>
          <a:noFill/>
          <a:ln/>
        </p:spPr>
        <p:txBody>
          <a:bodyPr wrap="square" lIns="0" tIns="0" rIns="0" bIns="0" rtlCol="0" anchor="t"/>
          <a:lstStyle/>
          <a:p>
            <a:pPr indent="0" marL="0">
              <a:buNone/>
            </a:pPr>
            <a:r>
              <a:rPr lang="en-US" sz="1400" dirty="0">
                <a:solidFill>
                  <a:srgbClr val="CFE3E0"/>
                </a:solidFill>
                <a:latin typeface="Calibri" pitchFamily="34" charset="0"/>
                <a:ea typeface="Calibri" pitchFamily="34" charset="-122"/>
                <a:cs typeface="Calibri" pitchFamily="34" charset="-120"/>
              </a:rPr>
              <a:t>Recall 'yes' cao nhất</a:t>
            </a:r>
            <a:endParaRPr lang="en-US" sz="1400" dirty="0"/>
          </a:p>
        </p:txBody>
      </p:sp>
      <p:sp>
        <p:nvSpPr>
          <p:cNvPr id="12" name="Text 8"/>
          <p:cNvSpPr txBox="1"/>
          <p:nvPr/>
        </p:nvSpPr>
        <p:spPr>
          <a:xfrm>
            <a:off x="822960" y="4343400"/>
            <a:ext cx="2377440" cy="731520"/>
          </a:xfrm>
          <a:prstGeom prst="rect">
            <a:avLst/>
          </a:prstGeom>
          <a:noFill/>
          <a:ln/>
        </p:spPr>
        <p:txBody>
          <a:bodyPr wrap="square" lIns="0" tIns="0" rIns="0" bIns="0" rtlCol="0" anchor="t"/>
          <a:lstStyle/>
          <a:p>
            <a:pPr indent="0" marL="0">
              <a:buNone/>
            </a:pPr>
            <a:r>
              <a:rPr lang="en-US" sz="3400" b="1" dirty="0">
                <a:solidFill>
                  <a:srgbClr val="E0A526"/>
                </a:solidFill>
                <a:latin typeface="Cambria" pitchFamily="34" charset="0"/>
                <a:ea typeface="Cambria" pitchFamily="34" charset="-122"/>
                <a:cs typeface="Cambria" pitchFamily="34" charset="-120"/>
              </a:rPr>
              <a:t>0.775</a:t>
            </a:r>
            <a:endParaRPr lang="en-US" sz="3400" dirty="0"/>
          </a:p>
        </p:txBody>
      </p:sp>
      <p:sp>
        <p:nvSpPr>
          <p:cNvPr id="13" name="Text 9"/>
          <p:cNvSpPr txBox="1"/>
          <p:nvPr/>
        </p:nvSpPr>
        <p:spPr>
          <a:xfrm>
            <a:off x="822960" y="5074920"/>
            <a:ext cx="2377440" cy="365760"/>
          </a:xfrm>
          <a:prstGeom prst="rect">
            <a:avLst/>
          </a:prstGeom>
          <a:noFill/>
          <a:ln/>
        </p:spPr>
        <p:txBody>
          <a:bodyPr wrap="square" lIns="0" tIns="0" rIns="0" bIns="0" rtlCol="0" anchor="t"/>
          <a:lstStyle/>
          <a:p>
            <a:pPr indent="0" marL="0">
              <a:buNone/>
            </a:pPr>
            <a:r>
              <a:rPr lang="en-US" sz="1400" dirty="0">
                <a:solidFill>
                  <a:srgbClr val="CFE3E0"/>
                </a:solidFill>
                <a:latin typeface="Calibri" pitchFamily="34" charset="0"/>
                <a:ea typeface="Calibri" pitchFamily="34" charset="-122"/>
                <a:cs typeface="Calibri" pitchFamily="34" charset="-120"/>
              </a:rPr>
              <a:t>ROC-AUC cao nhất</a:t>
            </a:r>
            <a:endParaRPr lang="en-US" sz="1400" dirty="0"/>
          </a:p>
        </p:txBody>
      </p:sp>
      <p:sp>
        <p:nvSpPr>
          <p:cNvPr id="14" name="Text 10"/>
          <p:cNvSpPr txBox="1"/>
          <p:nvPr/>
        </p:nvSpPr>
        <p:spPr>
          <a:xfrm>
            <a:off x="3383280" y="4343400"/>
            <a:ext cx="2377440" cy="731520"/>
          </a:xfrm>
          <a:prstGeom prst="rect">
            <a:avLst/>
          </a:prstGeom>
          <a:noFill/>
          <a:ln/>
        </p:spPr>
        <p:txBody>
          <a:bodyPr wrap="square" lIns="0" tIns="0" rIns="0" bIns="0" rtlCol="0" anchor="t"/>
          <a:lstStyle/>
          <a:p>
            <a:pPr indent="0" marL="0">
              <a:buNone/>
            </a:pPr>
            <a:r>
              <a:rPr lang="en-US" sz="3400" b="1" dirty="0">
                <a:solidFill>
                  <a:srgbClr val="E0A526"/>
                </a:solidFill>
                <a:latin typeface="Cambria" pitchFamily="34" charset="0"/>
                <a:ea typeface="Cambria" pitchFamily="34" charset="-122"/>
                <a:cs typeface="Cambria" pitchFamily="34" charset="-120"/>
              </a:rPr>
              <a:t>−0.003</a:t>
            </a:r>
            <a:endParaRPr lang="en-US" sz="3400" dirty="0"/>
          </a:p>
        </p:txBody>
      </p:sp>
      <p:sp>
        <p:nvSpPr>
          <p:cNvPr id="15" name="Text 11"/>
          <p:cNvSpPr txBox="1"/>
          <p:nvPr/>
        </p:nvSpPr>
        <p:spPr>
          <a:xfrm>
            <a:off x="3383280" y="5074920"/>
            <a:ext cx="2377440" cy="365760"/>
          </a:xfrm>
          <a:prstGeom prst="rect">
            <a:avLst/>
          </a:prstGeom>
          <a:noFill/>
          <a:ln/>
        </p:spPr>
        <p:txBody>
          <a:bodyPr wrap="square" lIns="0" tIns="0" rIns="0" bIns="0" rtlCol="0" anchor="t"/>
          <a:lstStyle/>
          <a:p>
            <a:pPr indent="0" marL="0">
              <a:buNone/>
            </a:pPr>
            <a:r>
              <a:rPr lang="en-US" sz="1400" dirty="0">
                <a:solidFill>
                  <a:srgbClr val="CFE3E0"/>
                </a:solidFill>
                <a:latin typeface="Calibri" pitchFamily="34" charset="0"/>
                <a:ea typeface="Calibri" pitchFamily="34" charset="-122"/>
                <a:cs typeface="Calibri" pitchFamily="34" charset="-120"/>
              </a:rPr>
              <a:t>Gap CV − Test</a:t>
            </a:r>
            <a:endParaRPr lang="en-US" sz="1400" dirty="0"/>
          </a:p>
        </p:txBody>
      </p:sp>
      <p:sp>
        <p:nvSpPr>
          <p:cNvPr id="16" name="Text 12"/>
          <p:cNvSpPr txBox="1"/>
          <p:nvPr/>
        </p:nvSpPr>
        <p:spPr>
          <a:xfrm>
            <a:off x="6400800" y="1417320"/>
            <a:ext cx="5212080" cy="411480"/>
          </a:xfrm>
          <a:prstGeom prst="rect">
            <a:avLst/>
          </a:prstGeom>
          <a:noFill/>
          <a:ln/>
        </p:spPr>
        <p:txBody>
          <a:bodyPr wrap="square" lIns="0" tIns="0" rIns="0" bIns="0" rtlCol="0" anchor="t"/>
          <a:lstStyle/>
          <a:p>
            <a:pPr indent="0" marL="0">
              <a:buNone/>
            </a:pPr>
            <a:r>
              <a:rPr lang="en-US" sz="1800" b="1" dirty="0">
                <a:solidFill>
                  <a:srgbClr val="0E3B3A"/>
                </a:solidFill>
                <a:latin typeface="Cambria" pitchFamily="34" charset="0"/>
                <a:ea typeface="Cambria" pitchFamily="34" charset="-122"/>
                <a:cs typeface="Cambria" pitchFamily="34" charset="-120"/>
              </a:rPr>
              <a:t>Căn cứ thống kê</a:t>
            </a:r>
            <a:endParaRPr lang="en-US" sz="1800" dirty="0"/>
          </a:p>
        </p:txBody>
      </p:sp>
      <p:sp>
        <p:nvSpPr>
          <p:cNvPr id="17" name="Shape 13"/>
          <p:cNvSpPr/>
          <p:nvPr/>
        </p:nvSpPr>
        <p:spPr>
          <a:xfrm>
            <a:off x="6400800" y="1965960"/>
            <a:ext cx="5212080" cy="1234440"/>
          </a:xfrm>
          <a:prstGeom prst="roundRect">
            <a:avLst>
              <a:gd name="adj" fmla="val 5926"/>
            </a:avLst>
          </a:prstGeom>
          <a:solidFill>
            <a:srgbClr val="EDF3F2"/>
          </a:solidFill>
          <a:ln w="12700">
            <a:solidFill>
              <a:srgbClr val="EDF3F2"/>
            </a:solidFill>
            <a:prstDash val="solid"/>
          </a:ln>
        </p:spPr>
      </p:sp>
      <p:sp>
        <p:nvSpPr>
          <p:cNvPr id="18" name="Shape 14"/>
          <p:cNvSpPr/>
          <p:nvPr/>
        </p:nvSpPr>
        <p:spPr>
          <a:xfrm>
            <a:off x="6583680" y="2286000"/>
            <a:ext cx="566928" cy="566928"/>
          </a:xfrm>
          <a:prstGeom prst="ellipse">
            <a:avLst/>
          </a:prstGeom>
          <a:solidFill>
            <a:srgbClr val="0F6E68"/>
          </a:solidFill>
          <a:ln w="12700">
            <a:solidFill>
              <a:srgbClr val="0F6E68"/>
            </a:solidFill>
            <a:prstDash val="solid"/>
          </a:ln>
        </p:spPr>
      </p:sp>
      <p:pic>
        <p:nvPicPr>
          <p:cNvPr id="19" name="Image 1" descr="preencoded.png">    </p:cNvPr>
          <p:cNvPicPr>
            <a:picLocks noChangeAspect="1"/>
          </p:cNvPicPr>
          <p:nvPr/>
        </p:nvPicPr>
        <p:blipFill>
          <a:blip r:embed="rId2"/>
          <a:stretch>
            <a:fillRect/>
          </a:stretch>
        </p:blipFill>
        <p:spPr>
          <a:xfrm>
            <a:off x="6725412" y="2427732"/>
            <a:ext cx="283464" cy="283464"/>
          </a:xfrm>
          <a:prstGeom prst="rect">
            <a:avLst/>
          </a:prstGeom>
        </p:spPr>
      </p:pic>
      <p:sp>
        <p:nvSpPr>
          <p:cNvPr id="20" name="Text 15"/>
          <p:cNvSpPr txBox="1"/>
          <p:nvPr/>
        </p:nvSpPr>
        <p:spPr>
          <a:xfrm>
            <a:off x="7315200" y="2075688"/>
            <a:ext cx="416052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Thắng Logistic có ý nghĩa</a:t>
            </a:r>
            <a:endParaRPr lang="en-US" sz="1500" dirty="0"/>
          </a:p>
        </p:txBody>
      </p:sp>
      <p:sp>
        <p:nvSpPr>
          <p:cNvPr id="21" name="Text 16"/>
          <p:cNvSpPr txBox="1"/>
          <p:nvPr/>
        </p:nvSpPr>
        <p:spPr>
          <a:xfrm>
            <a:off x="7315200" y="2441448"/>
            <a:ext cx="416052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McNemar p = 0.041 &lt; 0.05</a:t>
            </a:r>
            <a:endParaRPr lang="en-US" sz="1300" dirty="0"/>
          </a:p>
        </p:txBody>
      </p:sp>
      <p:sp>
        <p:nvSpPr>
          <p:cNvPr id="22" name="Shape 17"/>
          <p:cNvSpPr/>
          <p:nvPr/>
        </p:nvSpPr>
        <p:spPr>
          <a:xfrm>
            <a:off x="6400800" y="3337560"/>
            <a:ext cx="5212080" cy="1234440"/>
          </a:xfrm>
          <a:prstGeom prst="roundRect">
            <a:avLst>
              <a:gd name="adj" fmla="val 5926"/>
            </a:avLst>
          </a:prstGeom>
          <a:solidFill>
            <a:srgbClr val="EDF3F2"/>
          </a:solidFill>
          <a:ln w="12700">
            <a:solidFill>
              <a:srgbClr val="EDF3F2"/>
            </a:solidFill>
            <a:prstDash val="solid"/>
          </a:ln>
        </p:spPr>
      </p:sp>
      <p:sp>
        <p:nvSpPr>
          <p:cNvPr id="23" name="Shape 18"/>
          <p:cNvSpPr/>
          <p:nvPr/>
        </p:nvSpPr>
        <p:spPr>
          <a:xfrm>
            <a:off x="6583680" y="3657600"/>
            <a:ext cx="566928" cy="566928"/>
          </a:xfrm>
          <a:prstGeom prst="ellipse">
            <a:avLst/>
          </a:prstGeom>
          <a:solidFill>
            <a:srgbClr val="5E7F9A"/>
          </a:solidFill>
          <a:ln w="12700">
            <a:solidFill>
              <a:srgbClr val="5E7F9A"/>
            </a:solidFill>
            <a:prstDash val="solid"/>
          </a:ln>
        </p:spPr>
      </p:sp>
      <p:pic>
        <p:nvPicPr>
          <p:cNvPr id="24" name="Image 2" descr="preencoded.png">    </p:cNvPr>
          <p:cNvPicPr>
            <a:picLocks noChangeAspect="1"/>
          </p:cNvPicPr>
          <p:nvPr/>
        </p:nvPicPr>
        <p:blipFill>
          <a:blip r:embed="rId3"/>
          <a:stretch>
            <a:fillRect/>
          </a:stretch>
        </p:blipFill>
        <p:spPr>
          <a:xfrm>
            <a:off x="6725412" y="3799332"/>
            <a:ext cx="283464" cy="283464"/>
          </a:xfrm>
          <a:prstGeom prst="rect">
            <a:avLst/>
          </a:prstGeom>
        </p:spPr>
      </p:pic>
      <p:sp>
        <p:nvSpPr>
          <p:cNvPr id="25" name="Text 19"/>
          <p:cNvSpPr txBox="1"/>
          <p:nvPr/>
        </p:nvSpPr>
        <p:spPr>
          <a:xfrm>
            <a:off x="7315200" y="3447288"/>
            <a:ext cx="416052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Hòa SVC về thống kê (p = 0.54)</a:t>
            </a:r>
            <a:endParaRPr lang="en-US" sz="1500" dirty="0"/>
          </a:p>
        </p:txBody>
      </p:sp>
      <p:sp>
        <p:nvSpPr>
          <p:cNvPr id="26" name="Text 20"/>
          <p:cNvSpPr txBox="1"/>
          <p:nvPr/>
        </p:nvSpPr>
        <p:spPr>
          <a:xfrm>
            <a:off x="7315200" y="3813048"/>
            <a:ext cx="416052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Phân định bằng Recall +4.3 điểm % và tốc độ batch nhanh ~10×</a:t>
            </a:r>
            <a:endParaRPr lang="en-US" sz="1300" dirty="0"/>
          </a:p>
        </p:txBody>
      </p:sp>
      <p:sp>
        <p:nvSpPr>
          <p:cNvPr id="27" name="Shape 21"/>
          <p:cNvSpPr/>
          <p:nvPr/>
        </p:nvSpPr>
        <p:spPr>
          <a:xfrm>
            <a:off x="6400800" y="4709160"/>
            <a:ext cx="5212080" cy="1234440"/>
          </a:xfrm>
          <a:prstGeom prst="roundRect">
            <a:avLst>
              <a:gd name="adj" fmla="val 5926"/>
            </a:avLst>
          </a:prstGeom>
          <a:solidFill>
            <a:srgbClr val="EDF3F2"/>
          </a:solidFill>
          <a:ln w="12700">
            <a:solidFill>
              <a:srgbClr val="EDF3F2"/>
            </a:solidFill>
            <a:prstDash val="solid"/>
          </a:ln>
        </p:spPr>
      </p:sp>
      <p:sp>
        <p:nvSpPr>
          <p:cNvPr id="28" name="Shape 22"/>
          <p:cNvSpPr/>
          <p:nvPr/>
        </p:nvSpPr>
        <p:spPr>
          <a:xfrm>
            <a:off x="6583680" y="5029200"/>
            <a:ext cx="566928" cy="566928"/>
          </a:xfrm>
          <a:prstGeom prst="ellipse">
            <a:avLst/>
          </a:prstGeom>
          <a:solidFill>
            <a:srgbClr val="C2553D"/>
          </a:solidFill>
          <a:ln w="12700">
            <a:solidFill>
              <a:srgbClr val="C2553D"/>
            </a:solidFill>
            <a:prstDash val="solid"/>
          </a:ln>
        </p:spPr>
      </p:sp>
      <p:pic>
        <p:nvPicPr>
          <p:cNvPr id="29" name="Image 3" descr="preencoded.png">    </p:cNvPr>
          <p:cNvPicPr>
            <a:picLocks noChangeAspect="1"/>
          </p:cNvPicPr>
          <p:nvPr/>
        </p:nvPicPr>
        <p:blipFill>
          <a:blip r:embed="rId4"/>
          <a:stretch>
            <a:fillRect/>
          </a:stretch>
        </p:blipFill>
        <p:spPr>
          <a:xfrm>
            <a:off x="6725412" y="5170932"/>
            <a:ext cx="283464" cy="283464"/>
          </a:xfrm>
          <a:prstGeom prst="rect">
            <a:avLst/>
          </a:prstGeom>
        </p:spPr>
      </p:pic>
      <p:sp>
        <p:nvSpPr>
          <p:cNvPr id="30" name="Text 23"/>
          <p:cNvSpPr txBox="1"/>
          <p:nvPr/>
        </p:nvSpPr>
        <p:spPr>
          <a:xfrm>
            <a:off x="7315200" y="4818888"/>
            <a:ext cx="4160520" cy="365760"/>
          </a:xfrm>
          <a:prstGeom prst="rect">
            <a:avLst/>
          </a:prstGeom>
          <a:noFill/>
          <a:ln/>
        </p:spPr>
        <p:txBody>
          <a:bodyPr wrap="square" lIns="0" tIns="0" rIns="0" bIns="0" rtlCol="0" anchor="t"/>
          <a:lstStyle/>
          <a:p>
            <a:pPr indent="0" marL="0">
              <a:buNone/>
            </a:pPr>
            <a:r>
              <a:rPr lang="en-US" sz="1500" b="1" dirty="0">
                <a:solidFill>
                  <a:srgbClr val="0E3B3A"/>
                </a:solidFill>
                <a:latin typeface="Calibri" pitchFamily="34" charset="0"/>
                <a:ea typeface="Calibri" pitchFamily="34" charset="-122"/>
                <a:cs typeface="Calibri" pitchFamily="34" charset="-120"/>
              </a:rPr>
              <a:t>Đánh đổi chấp nhận</a:t>
            </a:r>
            <a:endParaRPr lang="en-US" sz="1500" dirty="0"/>
          </a:p>
        </p:txBody>
      </p:sp>
      <p:sp>
        <p:nvSpPr>
          <p:cNvPr id="31" name="Text 24"/>
          <p:cNvSpPr txBox="1"/>
          <p:nvPr/>
        </p:nvSpPr>
        <p:spPr>
          <a:xfrm>
            <a:off x="7315200" y="5184648"/>
            <a:ext cx="4160520" cy="731520"/>
          </a:xfrm>
          <a:prstGeom prst="rect">
            <a:avLst/>
          </a:prstGeom>
          <a:noFill/>
          <a:ln/>
        </p:spPr>
        <p:txBody>
          <a:bodyPr wrap="square" lIns="0" tIns="0" rIns="0" bIns="0" rtlCol="0" anchor="t"/>
          <a:lstStyle/>
          <a:p>
            <a:pPr indent="0" marL="0">
              <a:buNone/>
            </a:pPr>
            <a:r>
              <a:rPr lang="en-US" sz="1300" dirty="0">
                <a:solidFill>
                  <a:srgbClr val="3A4644"/>
                </a:solidFill>
                <a:latin typeface="Calibri" pitchFamily="34" charset="0"/>
                <a:ea typeface="Calibri" pitchFamily="34" charset="-122"/>
                <a:cs typeface="Calibri" pitchFamily="34" charset="-120"/>
              </a:rPr>
              <a:t>41.5 MB · 54 ms/mẫu · giải thích mức trung bình</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9"/>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Kết luận và hướng phát triển</a:t>
            </a:r>
            <a:endParaRPr lang="en-US" sz="3600" dirty="0"/>
          </a:p>
        </p:txBody>
      </p:sp>
      <p:sp>
        <p:nvSpPr>
          <p:cNvPr id="3" name="Shape 1"/>
          <p:cNvSpPr/>
          <p:nvPr/>
        </p:nvSpPr>
        <p:spPr>
          <a:xfrm>
            <a:off x="731520" y="1554480"/>
            <a:ext cx="3383280" cy="3749040"/>
          </a:xfrm>
          <a:prstGeom prst="roundRect">
            <a:avLst>
              <a:gd name="adj" fmla="val 2162"/>
            </a:avLst>
          </a:prstGeom>
          <a:solidFill>
            <a:srgbClr val="174B4A"/>
          </a:solidFill>
          <a:ln w="12700">
            <a:solidFill>
              <a:srgbClr val="2B6462"/>
            </a:solidFill>
            <a:prstDash val="solid"/>
          </a:ln>
        </p:spPr>
      </p:sp>
      <p:sp>
        <p:nvSpPr>
          <p:cNvPr id="4" name="Shape 2"/>
          <p:cNvSpPr/>
          <p:nvPr/>
        </p:nvSpPr>
        <p:spPr>
          <a:xfrm>
            <a:off x="1005840" y="1783080"/>
            <a:ext cx="603504" cy="603504"/>
          </a:xfrm>
          <a:prstGeom prst="ellipse">
            <a:avLst/>
          </a:prstGeom>
          <a:solidFill>
            <a:srgbClr val="0F6E68"/>
          </a:solidFill>
          <a:ln w="12700">
            <a:solidFill>
              <a:srgbClr val="0F6E68"/>
            </a:solidFill>
            <a:prstDash val="solid"/>
          </a:ln>
        </p:spPr>
      </p:sp>
      <p:pic>
        <p:nvPicPr>
          <p:cNvPr id="5" name="Image 0" descr="preencoded.png">    </p:cNvPr>
          <p:cNvPicPr>
            <a:picLocks noChangeAspect="1"/>
          </p:cNvPicPr>
          <p:nvPr/>
        </p:nvPicPr>
        <p:blipFill>
          <a:blip r:embed="rId1"/>
          <a:stretch>
            <a:fillRect/>
          </a:stretch>
        </p:blipFill>
        <p:spPr>
          <a:xfrm>
            <a:off x="1156716" y="1933956"/>
            <a:ext cx="301752" cy="301752"/>
          </a:xfrm>
          <a:prstGeom prst="rect">
            <a:avLst/>
          </a:prstGeom>
        </p:spPr>
      </p:pic>
      <p:sp>
        <p:nvSpPr>
          <p:cNvPr id="6" name="Text 3"/>
          <p:cNvSpPr txBox="1"/>
          <p:nvPr/>
        </p:nvSpPr>
        <p:spPr>
          <a:xfrm>
            <a:off x="1737360" y="1783080"/>
            <a:ext cx="2286000" cy="60350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Đạt được</a:t>
            </a:r>
            <a:endParaRPr lang="en-US" sz="2000" dirty="0"/>
          </a:p>
        </p:txBody>
      </p:sp>
      <p:sp>
        <p:nvSpPr>
          <p:cNvPr id="7" name="Text 4"/>
          <p:cNvSpPr txBox="1"/>
          <p:nvPr/>
        </p:nvSpPr>
        <p:spPr>
          <a:xfrm>
            <a:off x="1005840" y="2651760"/>
            <a:ext cx="2926080" cy="292608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Pipeline không rò rỉ, tái lập được</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So sánh công bằng 3 họ mô hình</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Random Forest: Macro-F1 0.726 · AUC 0.775</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Phân tích lỗi định lượng, có kiểm định</a:t>
            </a:r>
            <a:endParaRPr lang="en-US" sz="1450" dirty="0"/>
          </a:p>
        </p:txBody>
      </p:sp>
      <p:sp>
        <p:nvSpPr>
          <p:cNvPr id="8" name="Shape 5"/>
          <p:cNvSpPr/>
          <p:nvPr/>
        </p:nvSpPr>
        <p:spPr>
          <a:xfrm>
            <a:off x="4389120" y="1554480"/>
            <a:ext cx="3383280" cy="3749040"/>
          </a:xfrm>
          <a:prstGeom prst="roundRect">
            <a:avLst>
              <a:gd name="adj" fmla="val 2162"/>
            </a:avLst>
          </a:prstGeom>
          <a:solidFill>
            <a:srgbClr val="174B4A"/>
          </a:solidFill>
          <a:ln w="12700">
            <a:solidFill>
              <a:srgbClr val="2B6462"/>
            </a:solidFill>
            <a:prstDash val="solid"/>
          </a:ln>
        </p:spPr>
      </p:sp>
      <p:sp>
        <p:nvSpPr>
          <p:cNvPr id="9" name="Shape 6"/>
          <p:cNvSpPr/>
          <p:nvPr/>
        </p:nvSpPr>
        <p:spPr>
          <a:xfrm>
            <a:off x="4663440" y="1783080"/>
            <a:ext cx="603504" cy="603504"/>
          </a:xfrm>
          <a:prstGeom prst="ellipse">
            <a:avLst/>
          </a:prstGeom>
          <a:solidFill>
            <a:srgbClr val="C2553D"/>
          </a:solidFill>
          <a:ln w="12700">
            <a:solidFill>
              <a:srgbClr val="C2553D"/>
            </a:solidFill>
            <a:prstDash val="solid"/>
          </a:ln>
        </p:spPr>
      </p:sp>
      <p:pic>
        <p:nvPicPr>
          <p:cNvPr id="10" name="Image 1" descr="preencoded.png">    </p:cNvPr>
          <p:cNvPicPr>
            <a:picLocks noChangeAspect="1"/>
          </p:cNvPicPr>
          <p:nvPr/>
        </p:nvPicPr>
        <p:blipFill>
          <a:blip r:embed="rId2"/>
          <a:stretch>
            <a:fillRect/>
          </a:stretch>
        </p:blipFill>
        <p:spPr>
          <a:xfrm>
            <a:off x="4814316" y="1933956"/>
            <a:ext cx="301752" cy="301752"/>
          </a:xfrm>
          <a:prstGeom prst="rect">
            <a:avLst/>
          </a:prstGeom>
        </p:spPr>
      </p:pic>
      <p:sp>
        <p:nvSpPr>
          <p:cNvPr id="11" name="Text 7"/>
          <p:cNvSpPr txBox="1"/>
          <p:nvPr/>
        </p:nvSpPr>
        <p:spPr>
          <a:xfrm>
            <a:off x="5394960" y="1783080"/>
            <a:ext cx="2286000" cy="60350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Hạn chế</a:t>
            </a:r>
            <a:endParaRPr lang="en-US" sz="2000" dirty="0"/>
          </a:p>
        </p:txBody>
      </p:sp>
      <p:sp>
        <p:nvSpPr>
          <p:cNvPr id="12" name="Text 8"/>
          <p:cNvSpPr txBox="1"/>
          <p:nvPr/>
        </p:nvSpPr>
        <p:spPr>
          <a:xfrm>
            <a:off x="4663440" y="2651760"/>
            <a:ext cx="2926080" cy="292608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Trần thông tin của bài toán trước cuộc gọi</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Điểm mù: chưa từng liên hệ, contact = unknown</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Xác suất chưa được hiệu chỉnh (calibration)</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Chưa kiểm tra drift theo thời gian</a:t>
            </a:r>
            <a:endParaRPr lang="en-US" sz="1450" dirty="0"/>
          </a:p>
        </p:txBody>
      </p:sp>
      <p:sp>
        <p:nvSpPr>
          <p:cNvPr id="13" name="Shape 9"/>
          <p:cNvSpPr/>
          <p:nvPr/>
        </p:nvSpPr>
        <p:spPr>
          <a:xfrm>
            <a:off x="8046720" y="1554480"/>
            <a:ext cx="3383280" cy="3749040"/>
          </a:xfrm>
          <a:prstGeom prst="roundRect">
            <a:avLst>
              <a:gd name="adj" fmla="val 2162"/>
            </a:avLst>
          </a:prstGeom>
          <a:solidFill>
            <a:srgbClr val="174B4A"/>
          </a:solidFill>
          <a:ln w="12700">
            <a:solidFill>
              <a:srgbClr val="2B6462"/>
            </a:solidFill>
            <a:prstDash val="solid"/>
          </a:ln>
        </p:spPr>
      </p:sp>
      <p:sp>
        <p:nvSpPr>
          <p:cNvPr id="14" name="Shape 10"/>
          <p:cNvSpPr/>
          <p:nvPr/>
        </p:nvSpPr>
        <p:spPr>
          <a:xfrm>
            <a:off x="8321040" y="1783080"/>
            <a:ext cx="603504" cy="603504"/>
          </a:xfrm>
          <a:prstGeom prst="ellipse">
            <a:avLst/>
          </a:prstGeom>
          <a:solidFill>
            <a:srgbClr val="B8860B"/>
          </a:solidFill>
          <a:ln w="12700">
            <a:solidFill>
              <a:srgbClr val="B8860B"/>
            </a:solidFill>
            <a:prstDash val="solid"/>
          </a:ln>
        </p:spPr>
      </p:sp>
      <p:pic>
        <p:nvPicPr>
          <p:cNvPr id="15" name="Image 2" descr="preencoded.png">    </p:cNvPr>
          <p:cNvPicPr>
            <a:picLocks noChangeAspect="1"/>
          </p:cNvPicPr>
          <p:nvPr/>
        </p:nvPicPr>
        <p:blipFill>
          <a:blip r:embed="rId3"/>
          <a:stretch>
            <a:fillRect/>
          </a:stretch>
        </p:blipFill>
        <p:spPr>
          <a:xfrm>
            <a:off x="8471916" y="1933956"/>
            <a:ext cx="301752" cy="301752"/>
          </a:xfrm>
          <a:prstGeom prst="rect">
            <a:avLst/>
          </a:prstGeom>
        </p:spPr>
      </p:pic>
      <p:sp>
        <p:nvSpPr>
          <p:cNvPr id="16" name="Text 11"/>
          <p:cNvSpPr txBox="1"/>
          <p:nvPr/>
        </p:nvSpPr>
        <p:spPr>
          <a:xfrm>
            <a:off x="9052560" y="1783080"/>
            <a:ext cx="2286000" cy="60350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Hướng phát triển</a:t>
            </a:r>
            <a:endParaRPr lang="en-US" sz="2000" dirty="0"/>
          </a:p>
        </p:txBody>
      </p:sp>
      <p:sp>
        <p:nvSpPr>
          <p:cNvPr id="17" name="Text 12"/>
          <p:cNvSpPr txBox="1"/>
          <p:nvPr/>
        </p:nvSpPr>
        <p:spPr>
          <a:xfrm>
            <a:off x="8321040" y="2651760"/>
            <a:ext cx="2926080" cy="292608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Thêm đặc trưng có trước cuộc gọi (giao dịch, thu nhập)</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Chọn ngưỡng theo chi phí FP/FN thực tế</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Hiệu chỉnh xác suất; thử Gradient Boosting</a:t>
            </a:r>
            <a:endParaRPr lang="en-US" sz="1450" dirty="0"/>
          </a:p>
          <a:p>
            <a:pPr marL="342900" indent="-342900">
              <a:spcAft>
                <a:spcPts val="1000"/>
              </a:spcAft>
              <a:buSzPct val="100000"/>
              <a:buChar char="•"/>
            </a:pPr>
            <a:r>
              <a:rPr lang="en-US" sz="1450" dirty="0">
                <a:solidFill>
                  <a:srgbClr val="E4EFED"/>
                </a:solidFill>
                <a:latin typeface="Calibri" pitchFamily="34" charset="0"/>
                <a:ea typeface="Calibri" pitchFamily="34" charset="-122"/>
                <a:cs typeface="Calibri" pitchFamily="34" charset="-120"/>
              </a:rPr>
              <a:t>Giám sát drift và huấn luyện lại định kỳ</a:t>
            </a:r>
            <a:endParaRPr lang="en-US" sz="1450" dirty="0"/>
          </a:p>
        </p:txBody>
      </p:sp>
      <p:sp>
        <p:nvSpPr>
          <p:cNvPr id="18" name="Text 13"/>
          <p:cNvSpPr txBox="1"/>
          <p:nvPr/>
        </p:nvSpPr>
        <p:spPr>
          <a:xfrm>
            <a:off x="731520" y="5669280"/>
            <a:ext cx="10698480" cy="457200"/>
          </a:xfrm>
          <a:prstGeom prst="rect">
            <a:avLst/>
          </a:prstGeom>
          <a:noFill/>
          <a:ln/>
        </p:spPr>
        <p:txBody>
          <a:bodyPr wrap="square" lIns="0" tIns="0" rIns="0" bIns="0" rtlCol="0" anchor="t"/>
          <a:lstStyle/>
          <a:p>
            <a:pPr indent="0" marL="0">
              <a:buNone/>
            </a:pPr>
            <a:r>
              <a:rPr lang="en-US" sz="2000" b="1" dirty="0">
                <a:solidFill>
                  <a:srgbClr val="E0A526"/>
                </a:solidFill>
                <a:latin typeface="Cambria" pitchFamily="34" charset="0"/>
                <a:ea typeface="Cambria" pitchFamily="34" charset="-122"/>
                <a:cs typeface="Cambria" pitchFamily="34" charset="-120"/>
              </a:rPr>
              <a:t>Cảm ơn thầy/cô đã lắng nghe — Mời đặt câu hỏi</a:t>
            </a:r>
            <a:endParaRPr lang="en-US" sz="2000" dirty="0"/>
          </a:p>
        </p:txBody>
      </p:sp>
    </p:spTree>
  </p:cSld>
  <p:clrMapOvr>
    <a:masterClrMapping/>
  </p:clrMapOvr>
</p:sld>
</file>

<file path=ppt/theme/theme1.xml><?xml version="1.0" encoding="utf-8"?>
<a:theme xmlns:a="http://schemas.openxmlformats.org/drawingml/2006/main" name="Bank Teal">
  <a:themeElements>
    <a:clrScheme name="Bank Teal">
      <a:dk1>
        <a:srgbClr val="1B2326"/>
      </a:dk1>
      <a:lt1>
        <a:srgbClr val="FFFFFF"/>
      </a:lt1>
      <a:dk2>
        <a:srgbClr val="0E3B3A"/>
      </a:dk2>
      <a:lt2>
        <a:srgbClr val="EDF3F2"/>
      </a:lt2>
      <a:accent1>
        <a:srgbClr val="0F6E68"/>
      </a:accent1>
      <a:accent2>
        <a:srgbClr val="E0A526"/>
      </a:accent2>
      <a:accent3>
        <a:srgbClr val="C2553D"/>
      </a:accent3>
      <a:accent4>
        <a:srgbClr val="5E7F9A"/>
      </a:accent4>
      <a:accent5>
        <a:srgbClr val="9CC3BD"/>
      </a:accent5>
      <a:accent6>
        <a:srgbClr val="3E4A52"/>
      </a:accent6>
      <a:hlink>
        <a:srgbClr val="0F6E68"/>
      </a:hlink>
      <a:folHlink>
        <a:srgbClr val="5E7F9A"/>
      </a:folHlink>
    </a:clrScheme>
    <a:fontScheme name="Bank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đoán khách hàng đăng ký tiền gửi có kỳ hạn</dc:title>
  <dc:subject>PptxGenJS Presentation</dc:subject>
  <dc:creator>Nhóm BTL Machine Learning</dc:creator>
  <cp:lastModifiedBy>Nhóm BTL Machine Learning</cp:lastModifiedBy>
  <cp:revision>1</cp:revision>
  <dcterms:created xsi:type="dcterms:W3CDTF">2026-10-30T08:48:59Z</dcterms:created>
  <dcterms:modified xsi:type="dcterms:W3CDTF">2026-10-30T08:48:59Z</dcterms:modified>
</cp:coreProperties>
</file>